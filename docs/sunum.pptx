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0693400" cy="6013450"/>
  <p:notesSz cx="10693400" cy="60134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6007735"/>
          </a:xfrm>
          <a:custGeom>
            <a:avLst/>
            <a:gdLst/>
            <a:ahLst/>
            <a:cxnLst/>
            <a:rect l="l" t="t" r="r" b="b"/>
            <a:pathLst>
              <a:path w="10692130" h="6007735">
                <a:moveTo>
                  <a:pt x="10691960" y="6007607"/>
                </a:moveTo>
                <a:lnTo>
                  <a:pt x="0" y="6007607"/>
                </a:lnTo>
                <a:lnTo>
                  <a:pt x="0" y="0"/>
                </a:lnTo>
                <a:lnTo>
                  <a:pt x="10691960" y="0"/>
                </a:lnTo>
                <a:lnTo>
                  <a:pt x="10691960" y="6007607"/>
                </a:lnTo>
                <a:close/>
              </a:path>
            </a:pathLst>
          </a:custGeom>
          <a:solidFill>
            <a:srgbClr val="1F4E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7181" y="1739900"/>
            <a:ext cx="5490845" cy="1107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4E7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67532"/>
            <a:ext cx="7485380" cy="1503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13202A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A7B4"/>
                </a:solidFill>
                <a:latin typeface="Segoe UI"/>
                <a:cs typeface="Segoe UI"/>
              </a:defRPr>
            </a:lvl1pPr>
          </a:lstStyle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E7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13202A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A7B4"/>
                </a:solidFill>
                <a:latin typeface="Segoe UI"/>
                <a:cs typeface="Segoe UI"/>
              </a:defRPr>
            </a:lvl1pPr>
          </a:lstStyle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E7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383093"/>
            <a:ext cx="4651629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383093"/>
            <a:ext cx="4651629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A7B4"/>
                </a:solidFill>
                <a:latin typeface="Segoe UI"/>
                <a:cs typeface="Segoe UI"/>
              </a:defRPr>
            </a:lvl1pPr>
          </a:lstStyle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E7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A7B4"/>
                </a:solidFill>
                <a:latin typeface="Segoe UI"/>
                <a:cs typeface="Segoe UI"/>
              </a:defRPr>
            </a:lvl1pPr>
          </a:lstStyle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A7B4"/>
                </a:solidFill>
                <a:latin typeface="Segoe UI"/>
                <a:cs typeface="Segoe UI"/>
              </a:defRPr>
            </a:lvl1pPr>
          </a:lstStyle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181" y="565181"/>
            <a:ext cx="471995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4E7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181" y="1113783"/>
            <a:ext cx="9265920" cy="3141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13202A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5592508"/>
            <a:ext cx="3421888" cy="300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5592508"/>
            <a:ext cx="2459482" cy="300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810749" y="5702783"/>
            <a:ext cx="21274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9A7B4"/>
                </a:solidFill>
                <a:latin typeface="Segoe UI"/>
                <a:cs typeface="Segoe UI"/>
              </a:defRPr>
            </a:lvl1pPr>
          </a:lstStyle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6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Multipl</a:t>
            </a:r>
            <a:r>
              <a:rPr dirty="0" sz="3600" spc="-125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Miyelom</a:t>
            </a:r>
            <a:endParaRPr sz="3600"/>
          </a:p>
          <a:p>
            <a:pPr marL="12700">
              <a:lnSpc>
                <a:spcPts val="4260"/>
              </a:lnSpc>
            </a:pPr>
            <a:r>
              <a:rPr dirty="0" sz="3600">
                <a:solidFill>
                  <a:srgbClr val="FFFFFF"/>
                </a:solidFill>
              </a:rPr>
              <a:t>Klinik</a:t>
            </a:r>
            <a:r>
              <a:rPr dirty="0" sz="3600" spc="-85">
                <a:solidFill>
                  <a:srgbClr val="FFFFFF"/>
                </a:solidFill>
              </a:rPr>
              <a:t> </a:t>
            </a:r>
            <a:r>
              <a:rPr dirty="0" sz="3600" spc="-55">
                <a:solidFill>
                  <a:srgbClr val="FFFFFF"/>
                </a:solidFill>
              </a:rPr>
              <a:t>Karar-</a:t>
            </a:r>
            <a:r>
              <a:rPr dirty="0" sz="3600">
                <a:solidFill>
                  <a:srgbClr val="FFFFFF"/>
                </a:solidFill>
              </a:rPr>
              <a:t>Destek</a:t>
            </a:r>
            <a:r>
              <a:rPr dirty="0" sz="3600" spc="-85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Arşivi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181" y="3038538"/>
            <a:ext cx="43840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Kaynağa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dayalı,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ölçülmüş,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CFDFEF"/>
                </a:solidFill>
                <a:latin typeface="Segoe UI"/>
                <a:cs typeface="Segoe UI"/>
              </a:rPr>
              <a:t>Türkiye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odaklı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bir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RAG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CFDFEF"/>
                </a:solidFill>
                <a:latin typeface="Segoe UI"/>
                <a:cs typeface="Segoe UI"/>
              </a:rPr>
              <a:t>sistemi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181" y="3768076"/>
            <a:ext cx="2750185" cy="46355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163</a:t>
            </a:r>
            <a:r>
              <a:rPr dirty="0" sz="1100" spc="-2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belge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·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14.532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parça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·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3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katman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78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altın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soru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·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30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arşiv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dışı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soru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·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5</a:t>
            </a:r>
            <a:r>
              <a:rPr dirty="0" sz="1100" spc="-1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CFDFEF"/>
                </a:solidFill>
                <a:latin typeface="Segoe UI"/>
                <a:cs typeface="Segoe UI"/>
              </a:rPr>
              <a:t>dil</a:t>
            </a:r>
            <a:r>
              <a:rPr dirty="0" sz="1100" spc="-10">
                <a:solidFill>
                  <a:srgbClr val="CFDFEF"/>
                </a:solidFill>
                <a:latin typeface="Segoe UI"/>
                <a:cs typeface="Segoe UI"/>
              </a:rPr>
              <a:t> modeli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Problem:</a:t>
            </a:r>
            <a:r>
              <a:rPr dirty="0" spc="-20"/>
              <a:t> </a:t>
            </a:r>
            <a:r>
              <a:rPr dirty="0"/>
              <a:t>bir</a:t>
            </a:r>
            <a:r>
              <a:rPr dirty="0" spc="-20"/>
              <a:t> </a:t>
            </a:r>
            <a:r>
              <a:rPr dirty="0"/>
              <a:t>soru,</a:t>
            </a:r>
            <a:r>
              <a:rPr dirty="0" spc="-20"/>
              <a:t> </a:t>
            </a:r>
            <a:r>
              <a:rPr dirty="0"/>
              <a:t>üç</a:t>
            </a:r>
            <a:r>
              <a:rPr dirty="0" spc="-15"/>
              <a:t> </a:t>
            </a:r>
            <a:r>
              <a:rPr dirty="0"/>
              <a:t>ayrı</a:t>
            </a:r>
            <a:r>
              <a:rPr dirty="0" spc="-20"/>
              <a:t> </a:t>
            </a:r>
            <a:r>
              <a:rPr dirty="0" spc="-25"/>
              <a:t>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173354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13359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524124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7181" y="1174781"/>
            <a:ext cx="6911975" cy="1909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Hekim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rejim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düşündüğünde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art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arda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üç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soru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soruyor:</a:t>
            </a:r>
            <a:endParaRPr sz="1600">
              <a:latin typeface="Segoe UI"/>
              <a:cs typeface="Segoe UI"/>
            </a:endParaRPr>
          </a:p>
          <a:p>
            <a:pPr marL="264160" marR="1193165">
              <a:lnSpc>
                <a:spcPct val="164100"/>
              </a:lnSpc>
              <a:spcBef>
                <a:spcPts val="375"/>
              </a:spcBef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Kanıt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bunu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destekliyor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mu?</a:t>
            </a:r>
            <a:r>
              <a:rPr dirty="0" sz="1600" spc="39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NCCN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·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ESMO</a:t>
            </a:r>
            <a:r>
              <a:rPr dirty="0" sz="16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·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ASCO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·</a:t>
            </a:r>
            <a:r>
              <a:rPr dirty="0" sz="16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NCI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PDQ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Bu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ilaç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Türkiye'de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ruhsatlı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mı?</a:t>
            </a:r>
            <a:r>
              <a:rPr dirty="0" sz="1600" spc="40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TİTCK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KÜB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·</a:t>
            </a:r>
            <a:r>
              <a:rPr dirty="0" sz="16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FDA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·</a:t>
            </a:r>
            <a:r>
              <a:rPr dirty="0" sz="16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EMA</a:t>
            </a:r>
            <a:endParaRPr sz="1600">
              <a:latin typeface="Segoe UI"/>
              <a:cs typeface="Segoe UI"/>
            </a:endParaRPr>
          </a:p>
          <a:p>
            <a:pPr marL="264160">
              <a:lnSpc>
                <a:spcPct val="100000"/>
              </a:lnSpc>
              <a:spcBef>
                <a:spcPts val="1155"/>
              </a:spcBef>
            </a:pP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SGK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bunu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ödüyor</a:t>
            </a:r>
            <a:r>
              <a:rPr dirty="0" sz="1600" spc="-1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mu?</a:t>
            </a:r>
            <a:r>
              <a:rPr dirty="0" sz="1600" spc="4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SUT</a:t>
            </a:r>
            <a:r>
              <a:rPr dirty="0" sz="16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ve</a:t>
            </a:r>
            <a:r>
              <a:rPr dirty="0" sz="16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5B6A79"/>
                </a:solidFill>
                <a:latin typeface="Segoe UI"/>
                <a:cs typeface="Segoe UI"/>
              </a:rPr>
              <a:t>ekleri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Üçünün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cevabı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üç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ayrı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belge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kümesinde.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İkisi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İngilizce,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biri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Türkçe,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hiçbiri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diğerine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atıf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yapmıyor.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3899" y="5676899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81" y="5702783"/>
            <a:ext cx="55372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PROBLEM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Arşiv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181" y="1117631"/>
            <a:ext cx="7968615" cy="2528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40"/>
              </a:lnSpc>
              <a:spcBef>
                <a:spcPts val="100"/>
              </a:spcBef>
            </a:pPr>
            <a:r>
              <a:rPr dirty="0" sz="6400" b="1">
                <a:solidFill>
                  <a:srgbClr val="1F4E78"/>
                </a:solidFill>
                <a:latin typeface="Segoe UI"/>
                <a:cs typeface="Segoe UI"/>
              </a:rPr>
              <a:t>163</a:t>
            </a:r>
            <a:r>
              <a:rPr dirty="0" sz="6400" spc="1250" b="1">
                <a:solidFill>
                  <a:srgbClr val="1F4E78"/>
                </a:solidFill>
                <a:latin typeface="Segoe UI"/>
                <a:cs typeface="Segoe UI"/>
              </a:rPr>
              <a:t> </a:t>
            </a:r>
            <a:r>
              <a:rPr dirty="0" sz="6400" b="1">
                <a:solidFill>
                  <a:srgbClr val="1F4E78"/>
                </a:solidFill>
                <a:latin typeface="Segoe UI"/>
                <a:cs typeface="Segoe UI"/>
              </a:rPr>
              <a:t>14.532</a:t>
            </a:r>
            <a:r>
              <a:rPr dirty="0" sz="6400" spc="1255" b="1">
                <a:solidFill>
                  <a:srgbClr val="1F4E78"/>
                </a:solidFill>
                <a:latin typeface="Segoe UI"/>
                <a:cs typeface="Segoe UI"/>
              </a:rPr>
              <a:t> </a:t>
            </a:r>
            <a:r>
              <a:rPr dirty="0" sz="6400" b="1">
                <a:solidFill>
                  <a:srgbClr val="1F4E78"/>
                </a:solidFill>
                <a:latin typeface="Segoe UI"/>
                <a:cs typeface="Segoe UI"/>
              </a:rPr>
              <a:t>108</a:t>
            </a:r>
            <a:r>
              <a:rPr dirty="0" sz="6400" spc="1255" b="1">
                <a:solidFill>
                  <a:srgbClr val="1F4E78"/>
                </a:solidFill>
                <a:latin typeface="Segoe UI"/>
                <a:cs typeface="Segoe UI"/>
              </a:rPr>
              <a:t> </a:t>
            </a:r>
            <a:r>
              <a:rPr dirty="0" sz="6400" spc="-60" b="1">
                <a:solidFill>
                  <a:srgbClr val="1F4E78"/>
                </a:solidFill>
                <a:latin typeface="Segoe UI"/>
                <a:cs typeface="Segoe UI"/>
              </a:rPr>
              <a:t>3</a:t>
            </a:r>
            <a:endParaRPr sz="6400">
              <a:latin typeface="Segoe UI"/>
              <a:cs typeface="Segoe UI"/>
            </a:endParaRPr>
          </a:p>
          <a:p>
            <a:pPr marL="12700">
              <a:lnSpc>
                <a:spcPts val="1400"/>
              </a:lnSpc>
              <a:tabLst>
                <a:tab pos="1842770" algn="l"/>
                <a:tab pos="4751705" algn="l"/>
                <a:tab pos="6582409" algn="l"/>
              </a:tabLst>
            </a:pPr>
            <a:r>
              <a:rPr dirty="0" sz="1200" spc="-10">
                <a:solidFill>
                  <a:srgbClr val="5B6A79"/>
                </a:solidFill>
                <a:latin typeface="Segoe UI"/>
                <a:cs typeface="Segoe UI"/>
              </a:rPr>
              <a:t>belge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	arama</a:t>
            </a:r>
            <a:r>
              <a:rPr dirty="0" sz="1200" spc="-3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5B6A79"/>
                </a:solidFill>
                <a:latin typeface="Segoe UI"/>
                <a:cs typeface="Segoe UI"/>
              </a:rPr>
              <a:t>parçası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	</a:t>
            </a:r>
            <a:r>
              <a:rPr dirty="0" sz="1200" spc="-10">
                <a:solidFill>
                  <a:srgbClr val="5B6A79"/>
                </a:solidFill>
                <a:latin typeface="Segoe UI"/>
                <a:cs typeface="Segoe UI"/>
              </a:rPr>
              <a:t>Türkçe</a:t>
            </a:r>
            <a:r>
              <a:rPr dirty="0" sz="1200" spc="-7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200" spc="-25">
                <a:solidFill>
                  <a:srgbClr val="5B6A79"/>
                </a:solidFill>
                <a:latin typeface="Segoe UI"/>
                <a:cs typeface="Segoe UI"/>
              </a:rPr>
              <a:t>KÜB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	</a:t>
            </a:r>
            <a:r>
              <a:rPr dirty="0" sz="1200" spc="-10">
                <a:solidFill>
                  <a:srgbClr val="5B6A79"/>
                </a:solidFill>
                <a:latin typeface="Segoe UI"/>
                <a:cs typeface="Segoe UI"/>
              </a:rPr>
              <a:t>katman</a:t>
            </a:r>
            <a:endParaRPr sz="1200">
              <a:latin typeface="Segoe UI"/>
              <a:cs typeface="Segoe UI"/>
            </a:endParaRPr>
          </a:p>
          <a:p>
            <a:pPr marL="12700" marR="6985">
              <a:lnSpc>
                <a:spcPct val="129800"/>
              </a:lnSpc>
              <a:spcBef>
                <a:spcPts val="1445"/>
              </a:spcBef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İlke: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yalnızca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birincil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ve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resmî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kaynak.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Üçüncü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taraf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prospektüs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siteleri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bilerek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kullanılmadı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doz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bilgisinin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izlenebilir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olması,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kolay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bulunmasından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önemliydi.</a:t>
            </a:r>
            <a:endParaRPr sz="1300">
              <a:latin typeface="Segoe UI"/>
              <a:cs typeface="Segoe UI"/>
            </a:endParaRPr>
          </a:p>
          <a:p>
            <a:pPr marL="12700" marR="5080">
              <a:lnSpc>
                <a:spcPct val="129800"/>
              </a:lnSpc>
              <a:spcBef>
                <a:spcPts val="1125"/>
              </a:spcBef>
            </a:pP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Alınamayanlar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da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kayıtlı: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ASCO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kılavuzu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bot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engeline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takıldı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(elle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indirildi),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gerçek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NCCN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PDF'i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üyelik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duvarının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arkasında,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dört</a:t>
            </a:r>
            <a:r>
              <a:rPr dirty="0" sz="13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KÜB</a:t>
            </a:r>
            <a:r>
              <a:rPr dirty="0" sz="13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taranmış</a:t>
            </a:r>
            <a:r>
              <a:rPr dirty="0" sz="13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görüntü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olduğu</a:t>
            </a:r>
            <a:r>
              <a:rPr dirty="0" sz="13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için</a:t>
            </a:r>
            <a:r>
              <a:rPr dirty="0" sz="13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OCR</a:t>
            </a:r>
            <a:r>
              <a:rPr dirty="0" sz="13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bekliyor.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899" y="5676899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181" y="5702783"/>
            <a:ext cx="68580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KAYNAKLAR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9"/>
            <a:ext cx="9248775" cy="723900"/>
            <a:chOff x="723899" y="1162049"/>
            <a:chExt cx="9248775" cy="723900"/>
          </a:xfrm>
        </p:grpSpPr>
        <p:sp>
          <p:nvSpPr>
            <p:cNvPr id="3" name="object 3"/>
            <p:cNvSpPr/>
            <p:nvPr/>
          </p:nvSpPr>
          <p:spPr>
            <a:xfrm>
              <a:off x="723887" y="1162049"/>
              <a:ext cx="9248775" cy="361950"/>
            </a:xfrm>
            <a:custGeom>
              <a:avLst/>
              <a:gdLst/>
              <a:ahLst/>
              <a:cxnLst/>
              <a:rect l="l" t="t" r="r" b="b"/>
              <a:pathLst>
                <a:path w="9248775" h="361950">
                  <a:moveTo>
                    <a:pt x="9248775" y="0"/>
                  </a:moveTo>
                  <a:lnTo>
                    <a:pt x="9248775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9248775" y="361950"/>
                  </a:lnTo>
                  <a:lnTo>
                    <a:pt x="9248775" y="0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87" y="1523999"/>
              <a:ext cx="9248775" cy="361950"/>
            </a:xfrm>
            <a:custGeom>
              <a:avLst/>
              <a:gdLst/>
              <a:ahLst/>
              <a:cxnLst/>
              <a:rect l="l" t="t" r="r" b="b"/>
              <a:pathLst>
                <a:path w="9248775" h="361950">
                  <a:moveTo>
                    <a:pt x="9248775" y="0"/>
                  </a:moveTo>
                  <a:lnTo>
                    <a:pt x="9248775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9248775" y="361950"/>
                  </a:lnTo>
                  <a:lnTo>
                    <a:pt x="9248775" y="0"/>
                  </a:lnTo>
                  <a:close/>
                </a:path>
              </a:pathLst>
            </a:custGeom>
            <a:solidFill>
              <a:srgbClr val="E9F1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723887" y="2247899"/>
            <a:ext cx="9248775" cy="371475"/>
          </a:xfrm>
          <a:custGeom>
            <a:avLst/>
            <a:gdLst/>
            <a:ahLst/>
            <a:cxnLst/>
            <a:rect l="l" t="t" r="r" b="b"/>
            <a:pathLst>
              <a:path w="9248775" h="371475">
                <a:moveTo>
                  <a:pt x="9248775" y="0"/>
                </a:moveTo>
                <a:lnTo>
                  <a:pt x="9248775" y="0"/>
                </a:lnTo>
                <a:lnTo>
                  <a:pt x="0" y="0"/>
                </a:lnTo>
                <a:lnTo>
                  <a:pt x="0" y="371475"/>
                </a:lnTo>
                <a:lnTo>
                  <a:pt x="9248775" y="371475"/>
                </a:lnTo>
                <a:lnTo>
                  <a:pt x="9248775" y="0"/>
                </a:lnTo>
                <a:close/>
              </a:path>
            </a:pathLst>
          </a:custGeom>
          <a:solidFill>
            <a:srgbClr val="F6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3887" y="187642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9248775" y="0"/>
                </a:lnTo>
                <a:lnTo>
                  <a:pt x="0" y="0"/>
                </a:lnTo>
                <a:lnTo>
                  <a:pt x="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3887" y="2247899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9248775" y="0"/>
                </a:lnTo>
                <a:lnTo>
                  <a:pt x="0" y="0"/>
                </a:lnTo>
                <a:lnTo>
                  <a:pt x="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3887" y="261937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9248775" y="0"/>
                </a:lnTo>
                <a:lnTo>
                  <a:pt x="0" y="0"/>
                </a:lnTo>
                <a:lnTo>
                  <a:pt x="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PDF'ten</a:t>
            </a:r>
            <a:r>
              <a:rPr dirty="0" spc="-15"/>
              <a:t> </a:t>
            </a:r>
            <a:r>
              <a:rPr dirty="0"/>
              <a:t>metne:</a:t>
            </a:r>
            <a:r>
              <a:rPr dirty="0" spc="-15"/>
              <a:t> </a:t>
            </a:r>
            <a:r>
              <a:rPr dirty="0"/>
              <a:t>dört</a:t>
            </a:r>
            <a:r>
              <a:rPr dirty="0" spc="-15"/>
              <a:t> </a:t>
            </a:r>
            <a:r>
              <a:rPr dirty="0"/>
              <a:t>araç</a:t>
            </a:r>
            <a:r>
              <a:rPr dirty="0" spc="-10"/>
              <a:t> yarıştırıldı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15082" y="1241456"/>
            <a:ext cx="3352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FFFFFF"/>
                </a:solidFill>
                <a:latin typeface="Segoe UI"/>
                <a:cs typeface="Segoe UI"/>
              </a:rPr>
              <a:t>Araç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1022" y="1241456"/>
            <a:ext cx="33274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FFFFFF"/>
                </a:solidFill>
                <a:latin typeface="Segoe UI"/>
                <a:cs typeface="Segoe UI"/>
              </a:rPr>
              <a:t>Süre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3610" y="1241456"/>
            <a:ext cx="6096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Segoe UI"/>
                <a:cs typeface="Segoe UI"/>
              </a:rPr>
              <a:t>Karakter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3810" y="1241456"/>
            <a:ext cx="7797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Segoe UI"/>
                <a:cs typeface="Segoe UI"/>
              </a:rPr>
              <a:t>Tablo</a:t>
            </a:r>
            <a:r>
              <a:rPr dirty="0" sz="1150" spc="-70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Segoe UI"/>
                <a:cs typeface="Segoe UI"/>
              </a:rPr>
              <a:t>satırı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0372" y="1241456"/>
            <a:ext cx="7867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Segoe UI"/>
                <a:cs typeface="Segoe UI"/>
              </a:rPr>
              <a:t>Şema</a:t>
            </a:r>
            <a:r>
              <a:rPr dirty="0" sz="1150" spc="-2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150" spc="-20" b="1">
                <a:solidFill>
                  <a:srgbClr val="FFFFFF"/>
                </a:solidFill>
                <a:latin typeface="Segoe UI"/>
                <a:cs typeface="Segoe UI"/>
              </a:rPr>
              <a:t>kodu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082" y="1603406"/>
            <a:ext cx="13849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LlamaParse</a:t>
            </a:r>
            <a:r>
              <a:rPr dirty="0" sz="1150" spc="-6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10">
                <a:solidFill>
                  <a:srgbClr val="1F4E78"/>
                </a:solidFill>
                <a:latin typeface="Segoe UI Semibold"/>
                <a:cs typeface="Segoe UI Semibold"/>
              </a:rPr>
              <a:t>(seçilen)</a:t>
            </a:r>
            <a:endParaRPr sz="115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3321" y="1603406"/>
            <a:ext cx="5099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55,7</a:t>
            </a:r>
            <a:r>
              <a:rPr dirty="0" sz="1150" spc="-3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 b="1">
                <a:solidFill>
                  <a:srgbClr val="13202A"/>
                </a:solidFill>
                <a:latin typeface="Segoe UI"/>
                <a:cs typeface="Segoe UI"/>
              </a:rPr>
              <a:t>sn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54241" y="1603406"/>
            <a:ext cx="56896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13202A"/>
                </a:solidFill>
                <a:latin typeface="Segoe UI"/>
                <a:cs typeface="Segoe UI"/>
              </a:rPr>
              <a:t>133.384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99896" y="1603406"/>
            <a:ext cx="1936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 b="1">
                <a:solidFill>
                  <a:srgbClr val="13202A"/>
                </a:solidFill>
                <a:latin typeface="Segoe UI"/>
                <a:cs typeface="Segoe UI"/>
              </a:rPr>
              <a:t>40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50684" y="1603406"/>
            <a:ext cx="4267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13202A"/>
                </a:solidFill>
                <a:latin typeface="Segoe UI"/>
                <a:cs typeface="Segoe UI"/>
              </a:rPr>
              <a:t>14/18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181" y="1974881"/>
            <a:ext cx="9265920" cy="1938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100"/>
              </a:spcBef>
              <a:tabLst>
                <a:tab pos="3690620" algn="l"/>
                <a:tab pos="5099050" algn="l"/>
                <a:tab pos="7215505" algn="l"/>
                <a:tab pos="8863330" algn="l"/>
              </a:tabLst>
            </a:pP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Docling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57,1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sn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180.295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19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9/18</a:t>
            </a:r>
            <a:endParaRPr sz="1150">
              <a:latin typeface="Segoe UI"/>
              <a:cs typeface="Segoe UI"/>
            </a:endParaRPr>
          </a:p>
          <a:p>
            <a:pPr marL="120014">
              <a:lnSpc>
                <a:spcPct val="100000"/>
              </a:lnSpc>
              <a:spcBef>
                <a:spcPts val="1470"/>
              </a:spcBef>
              <a:tabLst>
                <a:tab pos="3611879" algn="l"/>
                <a:tab pos="5099050" algn="l"/>
                <a:tab pos="7294245" algn="l"/>
                <a:tab pos="8784590" algn="l"/>
              </a:tabLst>
            </a:pP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Unstructured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244,0</a:t>
            </a:r>
            <a:r>
              <a:rPr dirty="0" sz="115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sn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187.471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50">
                <a:solidFill>
                  <a:srgbClr val="13202A"/>
                </a:solidFill>
                <a:latin typeface="Segoe UI"/>
                <a:cs typeface="Segoe UI"/>
              </a:rPr>
              <a:t>0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15/18</a:t>
            </a: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50">
              <a:latin typeface="Segoe UI"/>
              <a:cs typeface="Segoe UI"/>
            </a:endParaRPr>
          </a:p>
          <a:p>
            <a:pPr marL="12700" marR="1397000">
              <a:lnSpc>
                <a:spcPct val="129800"/>
              </a:lnSpc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En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çok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metin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çıkaran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araç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en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iyisi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değil: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Unstructured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sıfır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tablo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satırı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üretti,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dört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kat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uzun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sürdü.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Docling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akış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şemalarını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atladı.</a:t>
            </a:r>
            <a:endParaRPr sz="1300">
              <a:latin typeface="Segoe UI"/>
              <a:cs typeface="Segoe UI"/>
            </a:endParaRPr>
          </a:p>
          <a:p>
            <a:pPr marL="12700" marR="1154430">
              <a:lnSpc>
                <a:spcPct val="125000"/>
              </a:lnSpc>
              <a:spcBef>
                <a:spcPts val="1200"/>
              </a:spcBef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Sistemin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tavanı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burada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 spc="-10">
                <a:solidFill>
                  <a:srgbClr val="1F4E78"/>
                </a:solidFill>
                <a:latin typeface="Segoe UI Semibold"/>
                <a:cs typeface="Segoe UI Semibold"/>
              </a:rPr>
              <a:t>belirlenir.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Kötü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çıkarılmış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tablo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sessizce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zehirler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sistem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hata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vermez,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sadece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yanlış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cevap</a:t>
            </a:r>
            <a:r>
              <a:rPr dirty="0" sz="1300" spc="-4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üretir.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3899" y="5676898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7181" y="5702783"/>
            <a:ext cx="69405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AYRIŞTIRMA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Yapı</a:t>
            </a:r>
            <a:r>
              <a:rPr dirty="0" spc="-70"/>
              <a:t> </a:t>
            </a:r>
            <a:r>
              <a:rPr dirty="0"/>
              <a:t>farkında</a:t>
            </a:r>
            <a:r>
              <a:rPr dirty="0" spc="-65"/>
              <a:t> </a:t>
            </a:r>
            <a:r>
              <a:rPr dirty="0" spc="-10"/>
              <a:t>bölümleme</a:t>
            </a:r>
          </a:p>
        </p:txBody>
      </p:sp>
      <p:sp>
        <p:nvSpPr>
          <p:cNvPr id="3" name="object 3"/>
          <p:cNvSpPr/>
          <p:nvPr/>
        </p:nvSpPr>
        <p:spPr>
          <a:xfrm>
            <a:off x="790574" y="16001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8"/>
                </a:moveTo>
                <a:lnTo>
                  <a:pt x="24785" y="57148"/>
                </a:lnTo>
                <a:lnTo>
                  <a:pt x="21140" y="56422"/>
                </a:lnTo>
                <a:lnTo>
                  <a:pt x="0" y="32363"/>
                </a:lnTo>
                <a:lnTo>
                  <a:pt x="0" y="24782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8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0574" y="196214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8"/>
                </a:moveTo>
                <a:lnTo>
                  <a:pt x="24785" y="57148"/>
                </a:lnTo>
                <a:lnTo>
                  <a:pt x="21140" y="56422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8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0574" y="231457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8"/>
                </a:moveTo>
                <a:lnTo>
                  <a:pt x="24785" y="57148"/>
                </a:lnTo>
                <a:lnTo>
                  <a:pt x="21140" y="56422"/>
                </a:lnTo>
                <a:lnTo>
                  <a:pt x="0" y="32363"/>
                </a:lnTo>
                <a:lnTo>
                  <a:pt x="0" y="24782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8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0574" y="26669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8"/>
                </a:moveTo>
                <a:lnTo>
                  <a:pt x="24785" y="57148"/>
                </a:lnTo>
                <a:lnTo>
                  <a:pt x="21140" y="56422"/>
                </a:lnTo>
                <a:lnTo>
                  <a:pt x="0" y="32363"/>
                </a:lnTo>
                <a:lnTo>
                  <a:pt x="0" y="24782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8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0574" y="301942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8"/>
                </a:moveTo>
                <a:lnTo>
                  <a:pt x="24785" y="57148"/>
                </a:lnTo>
                <a:lnTo>
                  <a:pt x="21140" y="56422"/>
                </a:lnTo>
                <a:lnTo>
                  <a:pt x="0" y="32363"/>
                </a:lnTo>
                <a:lnTo>
                  <a:pt x="0" y="24782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8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81" y="1165256"/>
            <a:ext cx="3142615" cy="1985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2A3A46"/>
                </a:solidFill>
                <a:latin typeface="Segoe UI"/>
                <a:cs typeface="Segoe UI"/>
              </a:rPr>
              <a:t>Kurallar</a:t>
            </a:r>
            <a:endParaRPr sz="1300">
              <a:latin typeface="Segoe UI"/>
              <a:cs typeface="Segoe UI"/>
            </a:endParaRPr>
          </a:p>
          <a:p>
            <a:pPr marL="264160">
              <a:lnSpc>
                <a:spcPct val="100000"/>
              </a:lnSpc>
              <a:spcBef>
                <a:spcPts val="1140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Sınır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başlıktır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,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sabit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uzunluk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değil</a:t>
            </a:r>
            <a:endParaRPr sz="1300">
              <a:latin typeface="Segoe UI"/>
              <a:cs typeface="Segoe UI"/>
            </a:endParaRPr>
          </a:p>
          <a:p>
            <a:pPr marL="264160" marR="5080">
              <a:lnSpc>
                <a:spcPct val="177900"/>
              </a:lnSpc>
              <a:spcBef>
                <a:spcPts val="75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800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token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tavanı;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cümle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ortasından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asla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Tablolar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atomik</a:t>
            </a:r>
            <a:r>
              <a:rPr dirty="0" sz="1300" spc="-4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bölünmez</a:t>
            </a:r>
            <a:endParaRPr sz="1300">
              <a:latin typeface="Segoe UI"/>
              <a:cs typeface="Segoe UI"/>
            </a:endParaRPr>
          </a:p>
          <a:p>
            <a:pPr marL="264160" marR="661035">
              <a:lnSpc>
                <a:spcPct val="177900"/>
              </a:lnSpc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Dipnot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tek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başına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parça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olmaz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Örtüşme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yalnızca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düz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 metinde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9155" y="1165256"/>
            <a:ext cx="4350385" cy="147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A3A46"/>
                </a:solidFill>
                <a:latin typeface="Segoe UI"/>
                <a:cs typeface="Segoe UI"/>
              </a:rPr>
              <a:t>Bilerek</a:t>
            </a:r>
            <a:r>
              <a:rPr dirty="0" sz="1300" spc="-40" b="1">
                <a:solidFill>
                  <a:srgbClr val="2A3A46"/>
                </a:solidFill>
                <a:latin typeface="Segoe UI"/>
                <a:cs typeface="Segoe UI"/>
              </a:rPr>
              <a:t> </a:t>
            </a:r>
            <a:r>
              <a:rPr dirty="0" sz="1300" spc="-10" b="1">
                <a:solidFill>
                  <a:srgbClr val="2A3A46"/>
                </a:solidFill>
                <a:latin typeface="Segoe UI"/>
                <a:cs typeface="Segoe UI"/>
              </a:rPr>
              <a:t>yapılmayan</a:t>
            </a:r>
            <a:endParaRPr sz="1300">
              <a:latin typeface="Segoe UI"/>
              <a:cs typeface="Segoe UI"/>
            </a:endParaRPr>
          </a:p>
          <a:p>
            <a:pPr marL="12700" marR="5080">
              <a:lnSpc>
                <a:spcPct val="129800"/>
              </a:lnSpc>
              <a:spcBef>
                <a:spcPts val="600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NCCN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akış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şemaları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IF/THEN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kurallarına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çevrilmedi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.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Çeviri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anlam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çıkarımı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ister;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uydurma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karar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kuralı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üretmek,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eksik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kural</a:t>
            </a:r>
            <a:r>
              <a:rPr dirty="0" sz="1300" spc="-5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bırakmaktan</a:t>
            </a:r>
            <a:r>
              <a:rPr dirty="0" sz="1300" spc="-5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tehlikelidir.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43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parça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"insan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gözü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gerekli"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diye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işaretlendi.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899" y="5676898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07181" y="5702783"/>
            <a:ext cx="72326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BÖLÜMLEME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23899" y="1157286"/>
          <a:ext cx="9324975" cy="71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300"/>
                <a:gridCol w="2960370"/>
                <a:gridCol w="2720339"/>
                <a:gridCol w="2439034"/>
              </a:tblGrid>
              <a:tr h="36131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Katman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Sorduğu</a:t>
                      </a:r>
                      <a:r>
                        <a:rPr dirty="0" sz="1150" spc="-55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soru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131318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Ground</a:t>
                      </a:r>
                      <a:r>
                        <a:rPr dirty="0" sz="1150" spc="-45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truth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4997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Durum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Structural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Belge</a:t>
                      </a:r>
                      <a:r>
                        <a:rPr dirty="0" sz="1150" spc="-1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bozuldu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mu?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131318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Gerekmez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4997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131/160</a:t>
                      </a:r>
                      <a:r>
                        <a:rPr dirty="0" sz="1150" spc="-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temiz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3899" y="2247898"/>
          <a:ext cx="9324975" cy="73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285"/>
                <a:gridCol w="3155315"/>
                <a:gridCol w="2303779"/>
                <a:gridCol w="2653029"/>
              </a:tblGrid>
              <a:tr h="37084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Metadata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Etiketler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doğru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mu?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175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Kısmen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7137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Sürüm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121/160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1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Semantic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Klinik</a:t>
                      </a:r>
                      <a:r>
                        <a:rPr dirty="0" sz="1150" spc="-3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olarak</a:t>
                      </a:r>
                      <a:r>
                        <a:rPr dirty="0" sz="1150" spc="-2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doğru</a:t>
                      </a:r>
                      <a:r>
                        <a:rPr dirty="0" sz="1150" spc="-3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mu?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061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10">
                          <a:solidFill>
                            <a:srgbClr val="1F4E78"/>
                          </a:solidFill>
                          <a:latin typeface="Segoe UI Semibold"/>
                          <a:cs typeface="Segoe UI Semibold"/>
                        </a:rPr>
                        <a:t>Gerekir</a:t>
                      </a:r>
                      <a:endParaRPr sz="1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7137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1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YAPILMADI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Doğrulayıcı</a:t>
            </a:r>
            <a:r>
              <a:rPr dirty="0" spc="-70"/>
              <a:t> </a:t>
            </a:r>
            <a:r>
              <a:rPr dirty="0" spc="-10"/>
              <a:t>katmanları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082" y="1974881"/>
            <a:ext cx="4368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Chunk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1571" y="1974881"/>
            <a:ext cx="20847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Parça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kaynağı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temsil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ediyor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 mu?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14851" y="1974881"/>
            <a:ext cx="6680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Gerekmez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1042" y="1974881"/>
            <a:ext cx="9404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Kapsam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≥0,97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181" y="3087363"/>
            <a:ext cx="845058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Kritik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tasarım: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"bakacak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bir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şey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bulamadım"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ile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"baktım,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temiz"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ayrı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raporlanıyor.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Kapsamı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olmayan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kontrol,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sessizce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"temiz"</a:t>
            </a:r>
            <a:r>
              <a:rPr dirty="0" sz="1300" spc="-4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demiyor.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899" y="5676898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07181" y="5702783"/>
            <a:ext cx="76517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DOĞRULAMA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8"/>
            <a:ext cx="9248775" cy="876300"/>
            <a:chOff x="723899" y="1162048"/>
            <a:chExt cx="9248775" cy="876300"/>
          </a:xfrm>
        </p:grpSpPr>
        <p:sp>
          <p:nvSpPr>
            <p:cNvPr id="3" name="object 3"/>
            <p:cNvSpPr/>
            <p:nvPr/>
          </p:nvSpPr>
          <p:spPr>
            <a:xfrm>
              <a:off x="723899" y="1162048"/>
              <a:ext cx="9248775" cy="876300"/>
            </a:xfrm>
            <a:custGeom>
              <a:avLst/>
              <a:gdLst/>
              <a:ahLst/>
              <a:cxnLst/>
              <a:rect l="l" t="t" r="r" b="b"/>
              <a:pathLst>
                <a:path w="9248775" h="876300">
                  <a:moveTo>
                    <a:pt x="924877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876299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1162048"/>
              <a:ext cx="47625" cy="876300"/>
            </a:xfrm>
            <a:custGeom>
              <a:avLst/>
              <a:gdLst/>
              <a:ahLst/>
              <a:cxnLst/>
              <a:rect l="l" t="t" r="r" b="b"/>
              <a:pathLst>
                <a:path w="47625" h="876300">
                  <a:moveTo>
                    <a:pt x="4762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876299"/>
                  </a:lnTo>
                  <a:close/>
                </a:path>
              </a:pathLst>
            </a:custGeom>
            <a:solidFill>
              <a:srgbClr val="9A1B1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23899" y="2209798"/>
            <a:ext cx="9248775" cy="876300"/>
            <a:chOff x="723899" y="2209798"/>
            <a:chExt cx="9248775" cy="876300"/>
          </a:xfrm>
        </p:grpSpPr>
        <p:sp>
          <p:nvSpPr>
            <p:cNvPr id="6" name="object 6"/>
            <p:cNvSpPr/>
            <p:nvPr/>
          </p:nvSpPr>
          <p:spPr>
            <a:xfrm>
              <a:off x="723899" y="2209798"/>
              <a:ext cx="9248775" cy="876300"/>
            </a:xfrm>
            <a:custGeom>
              <a:avLst/>
              <a:gdLst/>
              <a:ahLst/>
              <a:cxnLst/>
              <a:rect l="l" t="t" r="r" b="b"/>
              <a:pathLst>
                <a:path w="9248775" h="876300">
                  <a:moveTo>
                    <a:pt x="924877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876299"/>
                  </a:lnTo>
                  <a:close/>
                </a:path>
              </a:pathLst>
            </a:custGeom>
            <a:solidFill>
              <a:srgbClr val="F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23899" y="2209798"/>
              <a:ext cx="47625" cy="876300"/>
            </a:xfrm>
            <a:custGeom>
              <a:avLst/>
              <a:gdLst/>
              <a:ahLst/>
              <a:cxnLst/>
              <a:rect l="l" t="t" r="r" b="b"/>
              <a:pathLst>
                <a:path w="47625" h="876300">
                  <a:moveTo>
                    <a:pt x="4762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876299"/>
                  </a:lnTo>
                  <a:close/>
                </a:path>
              </a:pathLst>
            </a:custGeom>
            <a:solidFill>
              <a:srgbClr val="B453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Doğrulayıcının</a:t>
            </a:r>
            <a:r>
              <a:rPr dirty="0" spc="-35"/>
              <a:t> </a:t>
            </a:r>
            <a:r>
              <a:rPr dirty="0"/>
              <a:t>bulduğu</a:t>
            </a:r>
            <a:r>
              <a:rPr dirty="0" spc="-35"/>
              <a:t> </a:t>
            </a:r>
            <a:r>
              <a:rPr dirty="0"/>
              <a:t>iki</a:t>
            </a:r>
            <a:r>
              <a:rPr dirty="0" spc="-35"/>
              <a:t> </a:t>
            </a:r>
            <a:r>
              <a:rPr dirty="0" spc="-25"/>
              <a:t>şey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1524" y="1296663"/>
            <a:ext cx="920115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1454" marR="561975">
              <a:lnSpc>
                <a:spcPct val="129800"/>
              </a:lnSpc>
              <a:spcBef>
                <a:spcPts val="100"/>
              </a:spcBef>
            </a:pPr>
            <a:r>
              <a:rPr dirty="0" sz="1300" b="1">
                <a:solidFill>
                  <a:srgbClr val="13202A"/>
                </a:solidFill>
                <a:latin typeface="Segoe UI"/>
                <a:cs typeface="Segoe UI"/>
              </a:rPr>
              <a:t>Gerçek</a:t>
            </a:r>
            <a:r>
              <a:rPr dirty="0" sz="1300" spc="-2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b="1">
                <a:solidFill>
                  <a:srgbClr val="13202A"/>
                </a:solidFill>
                <a:latin typeface="Segoe UI"/>
                <a:cs typeface="Segoe UI"/>
              </a:rPr>
              <a:t>hata:</a:t>
            </a:r>
            <a:r>
              <a:rPr dirty="0" sz="1300" spc="-1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SARCLISA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belgesinde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kontrendikasyon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cümlesi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sessizce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siliniyordu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boş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gövdeli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bölüm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atlanırken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başlıktaki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içerik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kayboluyordu.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181" y="2344413"/>
            <a:ext cx="9265920" cy="150939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565"/>
              </a:spcBef>
            </a:pPr>
            <a:r>
              <a:rPr dirty="0" sz="1300" b="1">
                <a:solidFill>
                  <a:srgbClr val="13202A"/>
                </a:solidFill>
                <a:latin typeface="Segoe UI"/>
                <a:cs typeface="Segoe UI"/>
              </a:rPr>
              <a:t>Sahte</a:t>
            </a:r>
            <a:r>
              <a:rPr dirty="0" sz="1300" spc="-3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b="1">
                <a:solidFill>
                  <a:srgbClr val="13202A"/>
                </a:solidFill>
                <a:latin typeface="Segoe UI"/>
                <a:cs typeface="Segoe UI"/>
              </a:rPr>
              <a:t>hata:</a:t>
            </a:r>
            <a:r>
              <a:rPr dirty="0" sz="1300" spc="-3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909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"bölünmüş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tablo"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raporlandı.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Ölçüt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hatalıydı;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uzak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tablo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tekrarlarını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bölünme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sayıyordu.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Düzeltilince</a:t>
            </a:r>
            <a:endParaRPr sz="1300">
              <a:latin typeface="Segoe UI"/>
              <a:cs typeface="Segoe UI"/>
            </a:endParaRPr>
          </a:p>
          <a:p>
            <a:pPr marL="276225">
              <a:lnSpc>
                <a:spcPct val="100000"/>
              </a:lnSpc>
              <a:spcBef>
                <a:spcPts val="465"/>
              </a:spcBef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23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'e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indi.</a:t>
            </a:r>
            <a:endParaRPr sz="13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300">
              <a:latin typeface="Segoe UI"/>
              <a:cs typeface="Segoe UI"/>
            </a:endParaRPr>
          </a:p>
          <a:p>
            <a:pPr marL="12700" marR="4718050">
              <a:lnSpc>
                <a:spcPct val="125000"/>
              </a:lnSpc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Ders: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düşük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skor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gördüğünde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önce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ölçütü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sorgula.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Bu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ders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projede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iki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kez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daha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5B6A79"/>
                </a:solidFill>
                <a:latin typeface="Segoe UI"/>
                <a:cs typeface="Segoe UI"/>
              </a:rPr>
              <a:t>hayat</a:t>
            </a:r>
            <a:r>
              <a:rPr dirty="0" sz="16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5B6A79"/>
                </a:solidFill>
                <a:latin typeface="Segoe UI"/>
                <a:cs typeface="Segoe UI"/>
              </a:rPr>
              <a:t>kurtardı.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3899" y="5676898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7181" y="5702783"/>
            <a:ext cx="76517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DOĞRULAMA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8"/>
            <a:ext cx="9248775" cy="3143250"/>
            <a:chOff x="723899" y="1162048"/>
            <a:chExt cx="9248775" cy="3143250"/>
          </a:xfrm>
        </p:grpSpPr>
        <p:sp>
          <p:nvSpPr>
            <p:cNvPr id="3" name="object 3"/>
            <p:cNvSpPr/>
            <p:nvPr/>
          </p:nvSpPr>
          <p:spPr>
            <a:xfrm>
              <a:off x="723899" y="1162048"/>
              <a:ext cx="9248775" cy="3143250"/>
            </a:xfrm>
            <a:custGeom>
              <a:avLst/>
              <a:gdLst/>
              <a:ahLst/>
              <a:cxnLst/>
              <a:rect l="l" t="t" r="r" b="b"/>
              <a:pathLst>
                <a:path w="9248775" h="3143250">
                  <a:moveTo>
                    <a:pt x="9248774" y="3143249"/>
                  </a:moveTo>
                  <a:lnTo>
                    <a:pt x="0" y="314324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3143249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8662" y="1166810"/>
              <a:ext cx="9239250" cy="3133725"/>
            </a:xfrm>
            <a:custGeom>
              <a:avLst/>
              <a:gdLst/>
              <a:ahLst/>
              <a:cxnLst/>
              <a:rect l="l" t="t" r="r" b="b"/>
              <a:pathLst>
                <a:path w="9239250" h="3133725">
                  <a:moveTo>
                    <a:pt x="0" y="0"/>
                  </a:moveTo>
                  <a:lnTo>
                    <a:pt x="9239249" y="0"/>
                  </a:lnTo>
                  <a:lnTo>
                    <a:pt x="9239249" y="3133724"/>
                  </a:lnTo>
                  <a:lnTo>
                    <a:pt x="0" y="3133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DE3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Uçtan</a:t>
            </a:r>
            <a:r>
              <a:rPr dirty="0" spc="-20"/>
              <a:t> </a:t>
            </a:r>
            <a:r>
              <a:rPr dirty="0"/>
              <a:t>uca</a:t>
            </a:r>
            <a:r>
              <a:rPr dirty="0" spc="-15"/>
              <a:t> </a:t>
            </a:r>
            <a:r>
              <a:rPr dirty="0" spc="-10"/>
              <a:t>mimari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81124" y="1689093"/>
            <a:ext cx="3782695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353695">
              <a:lnSpc>
                <a:spcPct val="118800"/>
              </a:lnSpc>
              <a:spcBef>
                <a:spcPts val="100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ilaç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/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rejim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/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sınıf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tanıma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·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marka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→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etken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madde BGE-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M3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·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1024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boyut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·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çok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dilli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Qdrant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·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30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aday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(+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ilaç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tanındıysa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filtreli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2.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arama)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5356" y="1317618"/>
            <a:ext cx="1129665" cy="11303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soru</a:t>
            </a:r>
            <a:endParaRPr sz="1000">
              <a:latin typeface="Consolas"/>
              <a:cs typeface="Consolas"/>
            </a:endParaRPr>
          </a:p>
          <a:p>
            <a:pPr marL="69215">
              <a:lnSpc>
                <a:spcPct val="100000"/>
              </a:lnSpc>
              <a:spcBef>
                <a:spcPts val="225"/>
              </a:spcBef>
            </a:pP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 marL="69215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sorgu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işleme</a:t>
            </a:r>
            <a:endParaRPr sz="1000">
              <a:latin typeface="Consolas"/>
              <a:cs typeface="Consolas"/>
            </a:endParaRPr>
          </a:p>
          <a:p>
            <a:pPr marL="69215">
              <a:lnSpc>
                <a:spcPct val="100000"/>
              </a:lnSpc>
              <a:spcBef>
                <a:spcPts val="2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gömme</a:t>
            </a:r>
            <a:endParaRPr sz="1000">
              <a:latin typeface="Consolas"/>
              <a:cs typeface="Consolas"/>
            </a:endParaRPr>
          </a:p>
          <a:p>
            <a:pPr marL="69215">
              <a:lnSpc>
                <a:spcPct val="100000"/>
              </a:lnSpc>
              <a:spcBef>
                <a:spcPts val="2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arama</a:t>
            </a:r>
            <a:endParaRPr sz="1000">
              <a:latin typeface="Consolas"/>
              <a:cs typeface="Consolas"/>
            </a:endParaRPr>
          </a:p>
          <a:p>
            <a:pPr marL="69215">
              <a:lnSpc>
                <a:spcPct val="100000"/>
              </a:lnSpc>
              <a:spcBef>
                <a:spcPts val="300"/>
              </a:spcBef>
            </a:pP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3048" y="2422518"/>
            <a:ext cx="413194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7715" marR="423545" indent="-768350">
              <a:lnSpc>
                <a:spcPct val="118700"/>
              </a:lnSpc>
              <a:spcBef>
                <a:spcPts val="100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arama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skoru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&lt;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0,50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→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cevap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yok,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model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hiç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çağrılmaz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tekrar</a:t>
            </a:r>
            <a:r>
              <a:rPr dirty="0" sz="1000" spc="-4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ayıklama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→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4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parça</a:t>
            </a:r>
            <a:r>
              <a:rPr dirty="0" sz="1000" spc="49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(özetleme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YOK)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1535430" algn="l"/>
              </a:tabLst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alan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kapısı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	→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kapsam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dışıysa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model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hiç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çağrılmaz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5163" y="2422518"/>
            <a:ext cx="641350" cy="9398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KAPI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bağlam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KAPI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2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üretim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163" y="3365531"/>
            <a:ext cx="10598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atıf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onarımı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1124" y="3155943"/>
            <a:ext cx="3363595" cy="3873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Qwen2.5-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7B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·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sıcaklık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0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·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katı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istem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atıfsız</a:t>
            </a: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cümleye</a:t>
            </a:r>
            <a:r>
              <a:rPr dirty="0" sz="1000" spc="-4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anlamsal</a:t>
            </a: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eşleşmeyle</a:t>
            </a:r>
            <a:r>
              <a:rPr dirty="0" sz="1000" spc="-4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kaynak</a:t>
            </a:r>
            <a:r>
              <a:rPr dirty="0" sz="1000" spc="-4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atama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5163" y="3527418"/>
            <a:ext cx="4550410" cy="5683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├─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KAPI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3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dayanaklılık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&lt;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0,20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→</a:t>
            </a:r>
            <a:r>
              <a:rPr dirty="0" sz="1000" spc="-15">
                <a:solidFill>
                  <a:srgbClr val="13202A"/>
                </a:solidFill>
                <a:latin typeface="Consolas"/>
                <a:cs typeface="Consolas"/>
              </a:rPr>
              <a:t> 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cevap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gizlenir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000" spc="-50">
                <a:solidFill>
                  <a:srgbClr val="13202A"/>
                </a:solidFill>
                <a:latin typeface="Consolas"/>
                <a:cs typeface="Consolas"/>
              </a:rPr>
              <a:t>│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tabLst>
                <a:tab pos="1465580" algn="l"/>
              </a:tabLst>
            </a:pP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└─</a:t>
            </a:r>
            <a:r>
              <a:rPr dirty="0" sz="1000" spc="-2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yanıt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	cevap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+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künyeli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kaynaklar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+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güven</a:t>
            </a:r>
            <a:r>
              <a:rPr dirty="0" sz="1000" spc="-30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13202A"/>
                </a:solidFill>
                <a:latin typeface="Consolas"/>
                <a:cs typeface="Consolas"/>
              </a:rPr>
              <a:t>+</a:t>
            </a:r>
            <a:r>
              <a:rPr dirty="0" sz="1000" spc="-25">
                <a:solidFill>
                  <a:srgbClr val="13202A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13202A"/>
                </a:solidFill>
                <a:latin typeface="Consolas"/>
                <a:cs typeface="Consolas"/>
              </a:rPr>
              <a:t>uyarılar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3899" y="5676898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07181" y="5702783"/>
            <a:ext cx="45910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MİMARİ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23899" y="1157285"/>
          <a:ext cx="9324975" cy="1459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5445"/>
                <a:gridCol w="2529839"/>
                <a:gridCol w="1651000"/>
                <a:gridCol w="1210309"/>
                <a:gridCol w="932815"/>
              </a:tblGrid>
              <a:tr h="36131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Yöntem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68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recall@5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322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recall@10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5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MRR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Süre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BM25</a:t>
                      </a:r>
                      <a:r>
                        <a:rPr dirty="0" sz="1150" spc="-3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(anahtar</a:t>
                      </a:r>
                      <a:r>
                        <a:rPr dirty="0" sz="1150" spc="-3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kelime)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68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0,59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322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0,68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0,512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0,9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Dense </a:t>
                      </a:r>
                      <a:r>
                        <a:rPr dirty="0" sz="1150" spc="-1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(BGE-</a:t>
                      </a:r>
                      <a:r>
                        <a:rPr dirty="0" sz="1150" spc="-2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M3)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75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0,82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322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0,87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0,714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1,2</a:t>
                      </a:r>
                      <a:r>
                        <a:rPr dirty="0" sz="1150" spc="-2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Hibrit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(RRF</a:t>
                      </a:r>
                      <a:r>
                        <a:rPr dirty="0" sz="1150" spc="-1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füzyon)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68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0,77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32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0,85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0,615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1,1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Arama:</a:t>
            </a:r>
            <a:r>
              <a:rPr dirty="0" spc="-35"/>
              <a:t> </a:t>
            </a:r>
            <a:r>
              <a:rPr dirty="0"/>
              <a:t>üç</a:t>
            </a:r>
            <a:r>
              <a:rPr dirty="0" spc="-35"/>
              <a:t> </a:t>
            </a:r>
            <a:r>
              <a:rPr dirty="0"/>
              <a:t>yöntem,</a:t>
            </a:r>
            <a:r>
              <a:rPr dirty="0" spc="-30"/>
              <a:t> </a:t>
            </a:r>
            <a:r>
              <a:rPr dirty="0"/>
              <a:t>78</a:t>
            </a:r>
            <a:r>
              <a:rPr dirty="0" spc="-35"/>
              <a:t> </a:t>
            </a:r>
            <a:r>
              <a:rPr dirty="0" spc="-20"/>
              <a:t>soru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81" y="2725413"/>
            <a:ext cx="8388350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03300">
              <a:lnSpc>
                <a:spcPct val="129800"/>
              </a:lnSpc>
              <a:spcBef>
                <a:spcPts val="100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Çok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dilli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gömme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zorunluydu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: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sorular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Türkçe,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kaynakların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çoğu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İngilizce.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"Karfilzomib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dozu"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sorusunun "Recommended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dose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of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carfilzomib"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bölümünü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bulması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gerekiyor.</a:t>
            </a:r>
            <a:endParaRPr sz="130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Gömme,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tam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arşivde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yerel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işlemcide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~8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saat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sürüyordu;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Colab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T4'te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37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dakika.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Bu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ölçümden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sonra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GPU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işleri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buluta taşındı.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3899" y="5676897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07181" y="5702783"/>
            <a:ext cx="43815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ARAMA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50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7"/>
            <a:ext cx="9248775" cy="723900"/>
            <a:chOff x="723899" y="1162047"/>
            <a:chExt cx="9248775" cy="723900"/>
          </a:xfrm>
        </p:grpSpPr>
        <p:sp>
          <p:nvSpPr>
            <p:cNvPr id="3" name="object 3"/>
            <p:cNvSpPr/>
            <p:nvPr/>
          </p:nvSpPr>
          <p:spPr>
            <a:xfrm>
              <a:off x="723887" y="1162049"/>
              <a:ext cx="9248775" cy="361950"/>
            </a:xfrm>
            <a:custGeom>
              <a:avLst/>
              <a:gdLst/>
              <a:ahLst/>
              <a:cxnLst/>
              <a:rect l="l" t="t" r="r" b="b"/>
              <a:pathLst>
                <a:path w="9248775" h="361950">
                  <a:moveTo>
                    <a:pt x="9248775" y="0"/>
                  </a:moveTo>
                  <a:lnTo>
                    <a:pt x="7781925" y="0"/>
                  </a:lnTo>
                  <a:lnTo>
                    <a:pt x="6467475" y="0"/>
                  </a:lnTo>
                  <a:lnTo>
                    <a:pt x="46672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667250" y="361950"/>
                  </a:lnTo>
                  <a:lnTo>
                    <a:pt x="6467475" y="361950"/>
                  </a:lnTo>
                  <a:lnTo>
                    <a:pt x="7781925" y="361950"/>
                  </a:lnTo>
                  <a:lnTo>
                    <a:pt x="9248775" y="361950"/>
                  </a:lnTo>
                  <a:lnTo>
                    <a:pt x="9248775" y="0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87" y="1523999"/>
              <a:ext cx="9248775" cy="361950"/>
            </a:xfrm>
            <a:custGeom>
              <a:avLst/>
              <a:gdLst/>
              <a:ahLst/>
              <a:cxnLst/>
              <a:rect l="l" t="t" r="r" b="b"/>
              <a:pathLst>
                <a:path w="9248775" h="361950">
                  <a:moveTo>
                    <a:pt x="9248775" y="0"/>
                  </a:moveTo>
                  <a:lnTo>
                    <a:pt x="7781925" y="0"/>
                  </a:lnTo>
                  <a:lnTo>
                    <a:pt x="6467475" y="0"/>
                  </a:lnTo>
                  <a:lnTo>
                    <a:pt x="46672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4667250" y="361950"/>
                  </a:lnTo>
                  <a:lnTo>
                    <a:pt x="6467475" y="361950"/>
                  </a:lnTo>
                  <a:lnTo>
                    <a:pt x="7781925" y="361950"/>
                  </a:lnTo>
                  <a:lnTo>
                    <a:pt x="9248775" y="361950"/>
                  </a:lnTo>
                  <a:lnTo>
                    <a:pt x="9248775" y="0"/>
                  </a:lnTo>
                  <a:close/>
                </a:path>
              </a:pathLst>
            </a:custGeom>
            <a:solidFill>
              <a:srgbClr val="E9F1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723887" y="2247899"/>
            <a:ext cx="9248775" cy="371475"/>
          </a:xfrm>
          <a:custGeom>
            <a:avLst/>
            <a:gdLst/>
            <a:ahLst/>
            <a:cxnLst/>
            <a:rect l="l" t="t" r="r" b="b"/>
            <a:pathLst>
              <a:path w="9248775" h="371475">
                <a:moveTo>
                  <a:pt x="9248775" y="0"/>
                </a:moveTo>
                <a:lnTo>
                  <a:pt x="7781925" y="0"/>
                </a:lnTo>
                <a:lnTo>
                  <a:pt x="6467475" y="0"/>
                </a:lnTo>
                <a:lnTo>
                  <a:pt x="4667250" y="0"/>
                </a:lnTo>
                <a:lnTo>
                  <a:pt x="0" y="0"/>
                </a:lnTo>
                <a:lnTo>
                  <a:pt x="0" y="371475"/>
                </a:lnTo>
                <a:lnTo>
                  <a:pt x="4667250" y="371475"/>
                </a:lnTo>
                <a:lnTo>
                  <a:pt x="6467475" y="371475"/>
                </a:lnTo>
                <a:lnTo>
                  <a:pt x="7781925" y="371475"/>
                </a:lnTo>
                <a:lnTo>
                  <a:pt x="9248775" y="371475"/>
                </a:lnTo>
                <a:lnTo>
                  <a:pt x="9248775" y="0"/>
                </a:lnTo>
                <a:close/>
              </a:path>
            </a:pathLst>
          </a:custGeom>
          <a:solidFill>
            <a:srgbClr val="F6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3887" y="187642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781925" y="0"/>
                </a:lnTo>
                <a:lnTo>
                  <a:pt x="6467475" y="0"/>
                </a:lnTo>
                <a:lnTo>
                  <a:pt x="4667250" y="0"/>
                </a:lnTo>
                <a:lnTo>
                  <a:pt x="0" y="0"/>
                </a:lnTo>
                <a:lnTo>
                  <a:pt x="0" y="9525"/>
                </a:lnTo>
                <a:lnTo>
                  <a:pt x="4667250" y="9525"/>
                </a:lnTo>
                <a:lnTo>
                  <a:pt x="6467475" y="9525"/>
                </a:lnTo>
                <a:lnTo>
                  <a:pt x="7781925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3887" y="2247899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781925" y="0"/>
                </a:lnTo>
                <a:lnTo>
                  <a:pt x="6467475" y="0"/>
                </a:lnTo>
                <a:lnTo>
                  <a:pt x="4667250" y="0"/>
                </a:lnTo>
                <a:lnTo>
                  <a:pt x="0" y="0"/>
                </a:lnTo>
                <a:lnTo>
                  <a:pt x="0" y="9525"/>
                </a:lnTo>
                <a:lnTo>
                  <a:pt x="4667250" y="9525"/>
                </a:lnTo>
                <a:lnTo>
                  <a:pt x="6467475" y="9525"/>
                </a:lnTo>
                <a:lnTo>
                  <a:pt x="7781925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3887" y="261937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781925" y="0"/>
                </a:lnTo>
                <a:lnTo>
                  <a:pt x="6467475" y="0"/>
                </a:lnTo>
                <a:lnTo>
                  <a:pt x="4667250" y="0"/>
                </a:lnTo>
                <a:lnTo>
                  <a:pt x="0" y="0"/>
                </a:lnTo>
                <a:lnTo>
                  <a:pt x="0" y="9525"/>
                </a:lnTo>
                <a:lnTo>
                  <a:pt x="4667250" y="9525"/>
                </a:lnTo>
                <a:lnTo>
                  <a:pt x="6467475" y="9525"/>
                </a:lnTo>
                <a:lnTo>
                  <a:pt x="7781925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723899" y="2809872"/>
            <a:ext cx="9248775" cy="1266825"/>
            <a:chOff x="723899" y="2809872"/>
            <a:chExt cx="9248775" cy="1266825"/>
          </a:xfrm>
        </p:grpSpPr>
        <p:sp>
          <p:nvSpPr>
            <p:cNvPr id="10" name="object 10"/>
            <p:cNvSpPr/>
            <p:nvPr/>
          </p:nvSpPr>
          <p:spPr>
            <a:xfrm>
              <a:off x="723899" y="2809872"/>
              <a:ext cx="9248775" cy="1266825"/>
            </a:xfrm>
            <a:custGeom>
              <a:avLst/>
              <a:gdLst/>
              <a:ahLst/>
              <a:cxnLst/>
              <a:rect l="l" t="t" r="r" b="b"/>
              <a:pathLst>
                <a:path w="9248775" h="1266825">
                  <a:moveTo>
                    <a:pt x="9248774" y="1266824"/>
                  </a:moveTo>
                  <a:lnTo>
                    <a:pt x="0" y="1266824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1266824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23899" y="2809872"/>
              <a:ext cx="47625" cy="1266825"/>
            </a:xfrm>
            <a:custGeom>
              <a:avLst/>
              <a:gdLst/>
              <a:ahLst/>
              <a:cxnLst/>
              <a:rect l="l" t="t" r="r" b="b"/>
              <a:pathLst>
                <a:path w="47625" h="1266825">
                  <a:moveTo>
                    <a:pt x="47624" y="1266824"/>
                  </a:moveTo>
                  <a:lnTo>
                    <a:pt x="0" y="1266824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1266824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Yeniden</a:t>
            </a:r>
            <a:r>
              <a:rPr dirty="0" spc="-60"/>
              <a:t> </a:t>
            </a:r>
            <a:r>
              <a:rPr dirty="0"/>
              <a:t>sıralayıcı:</a:t>
            </a:r>
            <a:r>
              <a:rPr dirty="0" spc="-60"/>
              <a:t> </a:t>
            </a:r>
            <a:r>
              <a:rPr dirty="0"/>
              <a:t>ölçüldü,</a:t>
            </a:r>
            <a:r>
              <a:rPr dirty="0" spc="-60"/>
              <a:t> </a:t>
            </a:r>
            <a:r>
              <a:rPr dirty="0" spc="-10"/>
              <a:t>bırakıldı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5082" y="1241456"/>
            <a:ext cx="191071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FFFFF"/>
                </a:solidFill>
                <a:latin typeface="Segoe UI"/>
                <a:cs typeface="Segoe UI"/>
              </a:rPr>
              <a:t>Kurulum</a:t>
            </a:r>
            <a:r>
              <a:rPr dirty="0" sz="1150" spc="-2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150" b="1">
                <a:solidFill>
                  <a:srgbClr val="5B6A79"/>
                </a:solidFill>
                <a:latin typeface="Segoe UI"/>
                <a:cs typeface="Segoe UI"/>
              </a:rPr>
              <a:t>(20</a:t>
            </a:r>
            <a:r>
              <a:rPr dirty="0" sz="1150" spc="-30" b="1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150" b="1">
                <a:solidFill>
                  <a:srgbClr val="5B6A79"/>
                </a:solidFill>
                <a:latin typeface="Segoe UI"/>
                <a:cs typeface="Segoe UI"/>
              </a:rPr>
              <a:t>soruluk</a:t>
            </a:r>
            <a:r>
              <a:rPr dirty="0" sz="1150" spc="-30" b="1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150" spc="-10" b="1">
                <a:solidFill>
                  <a:srgbClr val="5B6A79"/>
                </a:solidFill>
                <a:latin typeface="Segoe UI"/>
                <a:cs typeface="Segoe UI"/>
              </a:rPr>
              <a:t>küme)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5164" y="1241456"/>
            <a:ext cx="6172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Segoe UI"/>
                <a:cs typeface="Segoe UI"/>
              </a:rPr>
              <a:t>recall@5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51700" y="1241456"/>
            <a:ext cx="356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 b="1">
                <a:solidFill>
                  <a:srgbClr val="FFFFFF"/>
                </a:solidFill>
                <a:latin typeface="Segoe UI"/>
                <a:cs typeface="Segoe UI"/>
              </a:rPr>
              <a:t>MRR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4743" y="1241456"/>
            <a:ext cx="33274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FFFFFF"/>
                </a:solidFill>
                <a:latin typeface="Segoe UI"/>
                <a:cs typeface="Segoe UI"/>
              </a:rPr>
              <a:t>Süre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082" y="1603406"/>
            <a:ext cx="17989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Havuz</a:t>
            </a:r>
            <a:r>
              <a:rPr dirty="0" sz="1150" spc="-2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100</a:t>
            </a:r>
            <a:r>
              <a:rPr dirty="0" sz="1150" spc="-2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+</a:t>
            </a:r>
            <a:r>
              <a:rPr dirty="0" sz="1150" spc="-2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sorgu</a:t>
            </a:r>
            <a:r>
              <a:rPr dirty="0" sz="1150" spc="-2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10" b="1">
                <a:solidFill>
                  <a:srgbClr val="13202A"/>
                </a:solidFill>
                <a:latin typeface="Segoe UI"/>
                <a:cs typeface="Segoe UI"/>
              </a:rPr>
              <a:t>işleme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75201" y="1603406"/>
            <a:ext cx="3175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13202A"/>
                </a:solidFill>
                <a:latin typeface="Segoe UI"/>
                <a:cs typeface="Segoe UI"/>
              </a:rPr>
              <a:t>0,85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06457" y="1603406"/>
            <a:ext cx="4013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13202A"/>
                </a:solidFill>
                <a:latin typeface="Segoe UI"/>
                <a:cs typeface="Segoe UI"/>
              </a:rPr>
              <a:t>0,838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06631" y="1603406"/>
            <a:ext cx="47053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13202A"/>
                </a:solidFill>
                <a:latin typeface="Segoe UI"/>
                <a:cs typeface="Segoe UI"/>
              </a:rPr>
              <a:t>189</a:t>
            </a:r>
            <a:r>
              <a:rPr dirty="0" sz="1150" spc="-25" b="1">
                <a:solidFill>
                  <a:srgbClr val="13202A"/>
                </a:solidFill>
                <a:latin typeface="Segoe UI"/>
                <a:cs typeface="Segoe UI"/>
              </a:rPr>
              <a:t> sn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3899" y="1974881"/>
            <a:ext cx="9248775" cy="1899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  <a:tabLst>
                <a:tab pos="6087110" algn="l"/>
                <a:tab pos="7324090" algn="l"/>
                <a:tab pos="8719185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Havuz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100,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sorgu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işleme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yok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0,75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0,755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187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 sn</a:t>
            </a:r>
            <a:endParaRPr sz="1150">
              <a:latin typeface="Segoe UI"/>
              <a:cs typeface="Segoe UI"/>
            </a:endParaRPr>
          </a:p>
          <a:p>
            <a:pPr marL="103505">
              <a:lnSpc>
                <a:spcPct val="100000"/>
              </a:lnSpc>
              <a:spcBef>
                <a:spcPts val="1470"/>
              </a:spcBef>
              <a:tabLst>
                <a:tab pos="6087110" algn="l"/>
                <a:tab pos="7324090" algn="l"/>
                <a:tab pos="8797925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Havuz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50,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sorgu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işleme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yok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0,75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0,748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80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sn</a:t>
            </a: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50">
              <a:latin typeface="Segoe UI"/>
              <a:cs typeface="Segoe UI"/>
            </a:endParaRPr>
          </a:p>
          <a:p>
            <a:pPr marL="259079" marR="619760">
              <a:lnSpc>
                <a:spcPct val="129800"/>
              </a:lnSpc>
            </a:pPr>
            <a:r>
              <a:rPr dirty="0" sz="1300" spc="-10">
                <a:solidFill>
                  <a:srgbClr val="1F4E78"/>
                </a:solidFill>
                <a:latin typeface="Segoe UI Semibold"/>
                <a:cs typeface="Segoe UI Semibold"/>
              </a:rPr>
              <a:t>Kullanılmıyor.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Sıralamayı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gerçekten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iyileştiriyor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ama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GPU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bağımlılığı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getiriyor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yerel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işlemcide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yalnızca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yüklenmesi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574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saniye.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Donanım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gereksinimini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ikiye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katlamak,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ölçülen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kazanca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değmedi.</a:t>
            </a:r>
            <a:endParaRPr sz="1300">
              <a:latin typeface="Segoe UI"/>
              <a:cs typeface="Segoe UI"/>
            </a:endParaRPr>
          </a:p>
          <a:p>
            <a:pPr marL="259079">
              <a:lnSpc>
                <a:spcPct val="100000"/>
              </a:lnSpc>
              <a:spcBef>
                <a:spcPts val="1590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Bu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eksik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değil,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ölçülmüş</a:t>
            </a:r>
            <a:r>
              <a:rPr dirty="0" sz="13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bir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tercih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.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GPU'lu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sunucuda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açılabilir.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3899" y="5676897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07181" y="5702783"/>
            <a:ext cx="60769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RERANKER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7"/>
            <a:ext cx="9248775" cy="1057275"/>
            <a:chOff x="723899" y="1162047"/>
            <a:chExt cx="9248775" cy="1057275"/>
          </a:xfrm>
        </p:grpSpPr>
        <p:sp>
          <p:nvSpPr>
            <p:cNvPr id="3" name="object 3"/>
            <p:cNvSpPr/>
            <p:nvPr/>
          </p:nvSpPr>
          <p:spPr>
            <a:xfrm>
              <a:off x="723899" y="1162047"/>
              <a:ext cx="9248775" cy="1057275"/>
            </a:xfrm>
            <a:custGeom>
              <a:avLst/>
              <a:gdLst/>
              <a:ahLst/>
              <a:cxnLst/>
              <a:rect l="l" t="t" r="r" b="b"/>
              <a:pathLst>
                <a:path w="9248775" h="1057275">
                  <a:moveTo>
                    <a:pt x="9248774" y="1057274"/>
                  </a:moveTo>
                  <a:lnTo>
                    <a:pt x="0" y="1057274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1057274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1162047"/>
              <a:ext cx="47625" cy="1057275"/>
            </a:xfrm>
            <a:custGeom>
              <a:avLst/>
              <a:gdLst/>
              <a:ahLst/>
              <a:cxnLst/>
              <a:rect l="l" t="t" r="r" b="b"/>
              <a:pathLst>
                <a:path w="47625" h="1057275">
                  <a:moveTo>
                    <a:pt x="47624" y="1057274"/>
                  </a:moveTo>
                  <a:lnTo>
                    <a:pt x="0" y="1057274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1057274"/>
                  </a:lnTo>
                  <a:close/>
                </a:path>
              </a:pathLst>
            </a:custGeom>
            <a:solidFill>
              <a:srgbClr val="9A1B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Sistemin</a:t>
            </a:r>
            <a:r>
              <a:rPr dirty="0" spc="-35"/>
              <a:t> </a:t>
            </a:r>
            <a:r>
              <a:rPr dirty="0"/>
              <a:t>en</a:t>
            </a:r>
            <a:r>
              <a:rPr dirty="0" spc="-30"/>
              <a:t> </a:t>
            </a:r>
            <a:r>
              <a:rPr dirty="0"/>
              <a:t>tehlikeli</a:t>
            </a:r>
            <a:r>
              <a:rPr dirty="0" spc="-35"/>
              <a:t> </a:t>
            </a:r>
            <a:r>
              <a:rPr dirty="0" spc="-10"/>
              <a:t>hatası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7341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Segoe UI"/>
                <a:cs typeface="Segoe UI"/>
              </a:rPr>
              <a:t>"Teklistamab</a:t>
            </a:r>
            <a:r>
              <a:rPr dirty="0" sz="1500" spc="-55" b="1">
                <a:latin typeface="Segoe UI"/>
                <a:cs typeface="Segoe UI"/>
              </a:rPr>
              <a:t> </a:t>
            </a:r>
            <a:r>
              <a:rPr dirty="0" sz="1500" b="1">
                <a:latin typeface="Segoe UI"/>
                <a:cs typeface="Segoe UI"/>
              </a:rPr>
              <a:t>için</a:t>
            </a:r>
            <a:r>
              <a:rPr dirty="0" sz="1500" spc="-50" b="1">
                <a:latin typeface="Segoe UI"/>
                <a:cs typeface="Segoe UI"/>
              </a:rPr>
              <a:t> </a:t>
            </a:r>
            <a:r>
              <a:rPr dirty="0" sz="1500" b="1">
                <a:latin typeface="Segoe UI"/>
                <a:cs typeface="Segoe UI"/>
              </a:rPr>
              <a:t>basamaklı</a:t>
            </a:r>
            <a:r>
              <a:rPr dirty="0" sz="1500" spc="-50" b="1">
                <a:latin typeface="Segoe UI"/>
                <a:cs typeface="Segoe UI"/>
              </a:rPr>
              <a:t> </a:t>
            </a:r>
            <a:r>
              <a:rPr dirty="0" sz="1500" b="1">
                <a:latin typeface="Segoe UI"/>
                <a:cs typeface="Segoe UI"/>
              </a:rPr>
              <a:t>doz</a:t>
            </a:r>
            <a:r>
              <a:rPr dirty="0" sz="1500" spc="-55" b="1">
                <a:latin typeface="Segoe UI"/>
                <a:cs typeface="Segoe UI"/>
              </a:rPr>
              <a:t> </a:t>
            </a:r>
            <a:r>
              <a:rPr dirty="0" sz="1500" b="1">
                <a:latin typeface="Segoe UI"/>
                <a:cs typeface="Segoe UI"/>
              </a:rPr>
              <a:t>şeması</a:t>
            </a:r>
            <a:r>
              <a:rPr dirty="0" sz="1500" spc="-50" b="1">
                <a:latin typeface="Segoe UI"/>
                <a:cs typeface="Segoe UI"/>
              </a:rPr>
              <a:t> </a:t>
            </a:r>
            <a:r>
              <a:rPr dirty="0" sz="1500" b="1">
                <a:latin typeface="Segoe UI"/>
                <a:cs typeface="Segoe UI"/>
              </a:rPr>
              <a:t>nedir?"</a:t>
            </a:r>
            <a:r>
              <a:rPr dirty="0" sz="1500" spc="-55" b="1">
                <a:latin typeface="Segoe UI"/>
                <a:cs typeface="Segoe UI"/>
              </a:rPr>
              <a:t> </a:t>
            </a:r>
            <a:r>
              <a:rPr dirty="0" sz="1500"/>
              <a:t>sorusuna</a:t>
            </a:r>
            <a:r>
              <a:rPr dirty="0" sz="1500" spc="-55"/>
              <a:t> </a:t>
            </a:r>
            <a:r>
              <a:rPr dirty="0" sz="1500"/>
              <a:t>sistem</a:t>
            </a:r>
            <a:r>
              <a:rPr dirty="0" sz="1500" spc="-50"/>
              <a:t> </a:t>
            </a:r>
            <a:r>
              <a:rPr dirty="0" sz="1500" b="1">
                <a:latin typeface="Segoe UI"/>
                <a:cs typeface="Segoe UI"/>
              </a:rPr>
              <a:t>elranatamab</a:t>
            </a:r>
            <a:r>
              <a:rPr dirty="0" sz="1500" spc="-55" b="1">
                <a:latin typeface="Segoe UI"/>
                <a:cs typeface="Segoe UI"/>
              </a:rPr>
              <a:t> </a:t>
            </a:r>
            <a:r>
              <a:rPr dirty="0" sz="1500"/>
              <a:t>bilgisi</a:t>
            </a:r>
            <a:r>
              <a:rPr dirty="0" sz="1500" spc="-55"/>
              <a:t> </a:t>
            </a:r>
            <a:r>
              <a:rPr dirty="0" sz="1500" spc="-10"/>
              <a:t>getiriyordu.</a:t>
            </a:r>
            <a:endParaRPr sz="1500">
              <a:latin typeface="Segoe UI"/>
              <a:cs typeface="Segoe UI"/>
            </a:endParaRPr>
          </a:p>
          <a:p>
            <a:pPr marL="276225">
              <a:lnSpc>
                <a:spcPct val="100000"/>
              </a:lnSpc>
              <a:spcBef>
                <a:spcPts val="1550"/>
              </a:spcBef>
            </a:pPr>
            <a:r>
              <a:rPr dirty="0"/>
              <a:t>İkisi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BCMA</a:t>
            </a:r>
            <a:r>
              <a:rPr dirty="0" spc="-20"/>
              <a:t> </a:t>
            </a:r>
            <a:r>
              <a:rPr dirty="0"/>
              <a:t>hedefli</a:t>
            </a:r>
            <a:r>
              <a:rPr dirty="0" spc="-20"/>
              <a:t> </a:t>
            </a:r>
            <a:r>
              <a:rPr dirty="0"/>
              <a:t>bispesifik</a:t>
            </a:r>
            <a:r>
              <a:rPr dirty="0" spc="-20"/>
              <a:t> antikor, </a:t>
            </a:r>
            <a:r>
              <a:rPr dirty="0"/>
              <a:t>ikisi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basamaklı</a:t>
            </a:r>
            <a:r>
              <a:rPr dirty="0" spc="-20"/>
              <a:t> </a:t>
            </a:r>
            <a:r>
              <a:rPr dirty="0"/>
              <a:t>doz</a:t>
            </a:r>
            <a:r>
              <a:rPr dirty="0" spc="-20"/>
              <a:t> </a:t>
            </a:r>
            <a:r>
              <a:rPr dirty="0" spc="-10"/>
              <a:t>kullanıyor,</a:t>
            </a:r>
            <a:r>
              <a:rPr dirty="0" spc="-20"/>
              <a:t> </a:t>
            </a:r>
            <a:r>
              <a:rPr dirty="0"/>
              <a:t>doz</a:t>
            </a:r>
            <a:r>
              <a:rPr dirty="0" spc="-20"/>
              <a:t> </a:t>
            </a:r>
            <a:r>
              <a:rPr dirty="0"/>
              <a:t>değerleri</a:t>
            </a:r>
            <a:r>
              <a:rPr dirty="0" spc="-15"/>
              <a:t> </a:t>
            </a:r>
            <a:r>
              <a:rPr dirty="0" spc="-10">
                <a:solidFill>
                  <a:srgbClr val="1F4E78"/>
                </a:solidFill>
                <a:latin typeface="Segoe UI Semibold"/>
                <a:cs typeface="Segoe UI Semibold"/>
              </a:rPr>
              <a:t>farklı</a:t>
            </a:r>
            <a:r>
              <a:rPr dirty="0" spc="-10"/>
              <a:t>.</a:t>
            </a:r>
          </a:p>
          <a:p>
            <a:pPr>
              <a:lnSpc>
                <a:spcPct val="100000"/>
              </a:lnSpc>
              <a:spcBef>
                <a:spcPts val="1120"/>
              </a:spcBef>
            </a:pPr>
          </a:p>
          <a:p>
            <a:pPr marL="12700" marR="1064260">
              <a:lnSpc>
                <a:spcPct val="129800"/>
              </a:lnSpc>
            </a:pPr>
            <a:r>
              <a:rPr dirty="0"/>
              <a:t>Kök</a:t>
            </a:r>
            <a:r>
              <a:rPr dirty="0" spc="-25"/>
              <a:t> </a:t>
            </a:r>
            <a:r>
              <a:rPr dirty="0"/>
              <a:t>neden:</a:t>
            </a:r>
            <a:r>
              <a:rPr dirty="0" spc="-20"/>
              <a:t> </a:t>
            </a:r>
            <a:r>
              <a:rPr dirty="0"/>
              <a:t>soru</a:t>
            </a:r>
            <a:r>
              <a:rPr dirty="0" spc="-20"/>
              <a:t> Türkçe,</a:t>
            </a:r>
            <a:r>
              <a:rPr dirty="0" spc="-25"/>
              <a:t> </a:t>
            </a:r>
            <a:r>
              <a:rPr dirty="0"/>
              <a:t>belge</a:t>
            </a:r>
            <a:r>
              <a:rPr dirty="0" spc="-20"/>
              <a:t> </a:t>
            </a:r>
            <a:r>
              <a:rPr dirty="0"/>
              <a:t>İngilizce.</a:t>
            </a:r>
            <a:r>
              <a:rPr dirty="0" spc="-20"/>
              <a:t> </a:t>
            </a:r>
            <a:r>
              <a:rPr dirty="0"/>
              <a:t>"Basamaklı</a:t>
            </a:r>
            <a:r>
              <a:rPr dirty="0" spc="-25"/>
              <a:t> </a:t>
            </a:r>
            <a:r>
              <a:rPr dirty="0"/>
              <a:t>doz</a:t>
            </a:r>
            <a:r>
              <a:rPr dirty="0" spc="-20"/>
              <a:t> </a:t>
            </a:r>
            <a:r>
              <a:rPr dirty="0"/>
              <a:t>şeması",</a:t>
            </a:r>
            <a:r>
              <a:rPr dirty="0" spc="-20"/>
              <a:t> "step-</a:t>
            </a:r>
            <a:r>
              <a:rPr dirty="0"/>
              <a:t>up</a:t>
            </a:r>
            <a:r>
              <a:rPr dirty="0" spc="-25"/>
              <a:t> </a:t>
            </a:r>
            <a:r>
              <a:rPr dirty="0"/>
              <a:t>dosing"</a:t>
            </a:r>
            <a:r>
              <a:rPr dirty="0" spc="-20"/>
              <a:t> </a:t>
            </a:r>
            <a:r>
              <a:rPr dirty="0"/>
              <a:t>başlıklı</a:t>
            </a:r>
            <a:r>
              <a:rPr dirty="0" spc="-20"/>
              <a:t> </a:t>
            </a:r>
            <a:r>
              <a:rPr dirty="0"/>
              <a:t>belgeye</a:t>
            </a:r>
            <a:r>
              <a:rPr dirty="0" spc="-20"/>
              <a:t> Türkçe</a:t>
            </a:r>
            <a:r>
              <a:rPr dirty="0" spc="-25"/>
              <a:t> </a:t>
            </a:r>
            <a:r>
              <a:rPr dirty="0" spc="-10"/>
              <a:t>yazılmış </a:t>
            </a:r>
            <a:r>
              <a:rPr dirty="0"/>
              <a:t>başka</a:t>
            </a:r>
            <a:r>
              <a:rPr dirty="0" spc="-35"/>
              <a:t> </a:t>
            </a:r>
            <a:r>
              <a:rPr dirty="0"/>
              <a:t>belgelerden</a:t>
            </a:r>
            <a:r>
              <a:rPr dirty="0" spc="-35"/>
              <a:t> </a:t>
            </a:r>
            <a:r>
              <a:rPr dirty="0"/>
              <a:t>daha</a:t>
            </a:r>
            <a:r>
              <a:rPr dirty="0" spc="-35"/>
              <a:t> </a:t>
            </a:r>
            <a:r>
              <a:rPr dirty="0" spc="-10"/>
              <a:t>uzaktı.</a:t>
            </a:r>
          </a:p>
          <a:p>
            <a:pPr marL="12700" marR="1056005">
              <a:lnSpc>
                <a:spcPct val="125000"/>
              </a:lnSpc>
              <a:spcBef>
                <a:spcPts val="1200"/>
              </a:spcBef>
            </a:pP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Çözüm</a:t>
            </a:r>
            <a:r>
              <a:rPr dirty="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—</a:t>
            </a:r>
            <a:r>
              <a:rPr dirty="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sorgu</a:t>
            </a:r>
            <a:r>
              <a:rPr dirty="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işleme</a:t>
            </a:r>
            <a:r>
              <a:rPr dirty="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katmanı:</a:t>
            </a:r>
            <a:r>
              <a:rPr dirty="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pc="-10"/>
              <a:t>ilaç/marka/rejim</a:t>
            </a:r>
            <a:r>
              <a:rPr dirty="0" spc="-20"/>
              <a:t> </a:t>
            </a:r>
            <a:r>
              <a:rPr dirty="0"/>
              <a:t>tanıma,</a:t>
            </a:r>
            <a:r>
              <a:rPr dirty="0" spc="-20"/>
              <a:t> </a:t>
            </a:r>
            <a:r>
              <a:rPr dirty="0"/>
              <a:t>marka</a:t>
            </a:r>
            <a:r>
              <a:rPr dirty="0" spc="-25"/>
              <a:t> </a:t>
            </a:r>
            <a:r>
              <a:rPr dirty="0"/>
              <a:t>→</a:t>
            </a:r>
            <a:r>
              <a:rPr dirty="0" spc="-20"/>
              <a:t> </a:t>
            </a:r>
            <a:r>
              <a:rPr dirty="0"/>
              <a:t>etken</a:t>
            </a:r>
            <a:r>
              <a:rPr dirty="0" spc="-20"/>
              <a:t> </a:t>
            </a:r>
            <a:r>
              <a:rPr dirty="0"/>
              <a:t>madde</a:t>
            </a:r>
            <a:r>
              <a:rPr dirty="0" spc="-20"/>
              <a:t> </a:t>
            </a:r>
            <a:r>
              <a:rPr dirty="0"/>
              <a:t>çevirisi,</a:t>
            </a:r>
            <a:r>
              <a:rPr dirty="0" spc="-20"/>
              <a:t> </a:t>
            </a:r>
            <a:r>
              <a:rPr dirty="0"/>
              <a:t>İngilizce</a:t>
            </a:r>
            <a:r>
              <a:rPr dirty="0" spc="-25"/>
              <a:t> </a:t>
            </a:r>
            <a:r>
              <a:rPr dirty="0"/>
              <a:t>INN</a:t>
            </a:r>
            <a:r>
              <a:rPr dirty="0" spc="-20"/>
              <a:t> </a:t>
            </a:r>
            <a:r>
              <a:rPr dirty="0"/>
              <a:t>ve</a:t>
            </a:r>
            <a:r>
              <a:rPr dirty="0" spc="-20"/>
              <a:t> </a:t>
            </a:r>
            <a:r>
              <a:rPr dirty="0" spc="-40"/>
              <a:t>ATC</a:t>
            </a:r>
            <a:r>
              <a:rPr dirty="0" spc="-20"/>
              <a:t> </a:t>
            </a:r>
            <a:r>
              <a:rPr dirty="0" spc="-25"/>
              <a:t>ile </a:t>
            </a:r>
            <a:r>
              <a:rPr dirty="0"/>
              <a:t>genişletme,</a:t>
            </a:r>
            <a:r>
              <a:rPr dirty="0" spc="-25"/>
              <a:t> </a:t>
            </a:r>
            <a:r>
              <a:rPr dirty="0"/>
              <a:t>ve</a:t>
            </a:r>
            <a:r>
              <a:rPr dirty="0" spc="-25"/>
              <a:t> </a:t>
            </a:r>
            <a:r>
              <a:rPr dirty="0"/>
              <a:t>ilaç</a:t>
            </a:r>
            <a:r>
              <a:rPr dirty="0" spc="-25"/>
              <a:t> </a:t>
            </a:r>
            <a:r>
              <a:rPr dirty="0"/>
              <a:t>tanındığında</a:t>
            </a:r>
            <a:r>
              <a:rPr dirty="0" spc="-20"/>
              <a:t> </a:t>
            </a:r>
            <a:r>
              <a:rPr dirty="0"/>
              <a:t>yalnızca</a:t>
            </a:r>
            <a:r>
              <a:rPr dirty="0" spc="-25"/>
              <a:t> </a:t>
            </a:r>
            <a:r>
              <a:rPr dirty="0"/>
              <a:t>o</a:t>
            </a:r>
            <a:r>
              <a:rPr dirty="0" spc="-25"/>
              <a:t> </a:t>
            </a:r>
            <a:r>
              <a:rPr dirty="0"/>
              <a:t>etken</a:t>
            </a:r>
            <a:r>
              <a:rPr dirty="0" spc="-20"/>
              <a:t> </a:t>
            </a:r>
            <a:r>
              <a:rPr dirty="0"/>
              <a:t>madde</a:t>
            </a:r>
            <a:r>
              <a:rPr dirty="0" spc="-25"/>
              <a:t> </a:t>
            </a:r>
            <a:r>
              <a:rPr dirty="0"/>
              <a:t>içinde</a:t>
            </a:r>
            <a:r>
              <a:rPr dirty="0" spc="-25"/>
              <a:t> </a:t>
            </a:r>
            <a:r>
              <a:rPr dirty="0"/>
              <a:t>ikinci</a:t>
            </a:r>
            <a:r>
              <a:rPr dirty="0" spc="-25"/>
              <a:t> </a:t>
            </a:r>
            <a:r>
              <a:rPr dirty="0"/>
              <a:t>bir</a:t>
            </a:r>
            <a:r>
              <a:rPr dirty="0" spc="-20"/>
              <a:t> </a:t>
            </a:r>
            <a:r>
              <a:rPr dirty="0"/>
              <a:t>filtreli</a:t>
            </a:r>
            <a:r>
              <a:rPr dirty="0" spc="-25"/>
              <a:t> </a:t>
            </a:r>
            <a:r>
              <a:rPr dirty="0" spc="-10"/>
              <a:t>arama.</a:t>
            </a:r>
          </a:p>
        </p:txBody>
      </p:sp>
      <p:sp>
        <p:nvSpPr>
          <p:cNvPr id="7" name="object 7"/>
          <p:cNvSpPr/>
          <p:nvPr/>
        </p:nvSpPr>
        <p:spPr>
          <a:xfrm>
            <a:off x="723899" y="5676897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81" y="5702783"/>
            <a:ext cx="84645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>
                <a:solidFill>
                  <a:srgbClr val="99A7B4"/>
                </a:solidFill>
                <a:latin typeface="Segoe UI"/>
                <a:cs typeface="Segoe UI"/>
              </a:rPr>
              <a:t>SORGU</a:t>
            </a:r>
            <a:r>
              <a:rPr dirty="0" sz="900" spc="215">
                <a:solidFill>
                  <a:srgbClr val="99A7B4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İŞLEME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3152772"/>
            <a:ext cx="9248775" cy="876300"/>
            <a:chOff x="723899" y="3152772"/>
            <a:chExt cx="9248775" cy="876300"/>
          </a:xfrm>
        </p:grpSpPr>
        <p:sp>
          <p:nvSpPr>
            <p:cNvPr id="3" name="object 3"/>
            <p:cNvSpPr/>
            <p:nvPr/>
          </p:nvSpPr>
          <p:spPr>
            <a:xfrm>
              <a:off x="723899" y="3152772"/>
              <a:ext cx="9248775" cy="876300"/>
            </a:xfrm>
            <a:custGeom>
              <a:avLst/>
              <a:gdLst/>
              <a:ahLst/>
              <a:cxnLst/>
              <a:rect l="l" t="t" r="r" b="b"/>
              <a:pathLst>
                <a:path w="9248775" h="876300">
                  <a:moveTo>
                    <a:pt x="924877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876299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3152772"/>
              <a:ext cx="47625" cy="876300"/>
            </a:xfrm>
            <a:custGeom>
              <a:avLst/>
              <a:gdLst/>
              <a:ahLst/>
              <a:cxnLst/>
              <a:rect l="l" t="t" r="r" b="b"/>
              <a:pathLst>
                <a:path w="47625" h="876300">
                  <a:moveTo>
                    <a:pt x="4762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876299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Üç</a:t>
            </a:r>
            <a:r>
              <a:rPr dirty="0" spc="-15"/>
              <a:t> </a:t>
            </a:r>
            <a:r>
              <a:rPr dirty="0" spc="-20"/>
              <a:t>kapı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3698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149225" algn="l"/>
              </a:tabLst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—</a:t>
            </a:r>
            <a:r>
              <a:rPr dirty="0" sz="16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Arama</a:t>
            </a:r>
            <a:r>
              <a:rPr dirty="0" sz="1600" spc="-1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skoru.</a:t>
            </a:r>
            <a:r>
              <a:rPr dirty="0" sz="16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/>
              <a:t>En</a:t>
            </a:r>
            <a:r>
              <a:rPr dirty="0" sz="1600" spc="-15"/>
              <a:t> </a:t>
            </a:r>
            <a:r>
              <a:rPr dirty="0" sz="1600"/>
              <a:t>iyi</a:t>
            </a:r>
            <a:r>
              <a:rPr dirty="0" sz="1600" spc="-15"/>
              <a:t> </a:t>
            </a:r>
            <a:r>
              <a:rPr dirty="0" sz="1600"/>
              <a:t>eşleşme</a:t>
            </a:r>
            <a:r>
              <a:rPr dirty="0" sz="1600" spc="-20"/>
              <a:t> </a:t>
            </a:r>
            <a:r>
              <a:rPr dirty="0" sz="1600"/>
              <a:t>0,50'nin</a:t>
            </a:r>
            <a:r>
              <a:rPr dirty="0" sz="1600" spc="-15"/>
              <a:t> </a:t>
            </a:r>
            <a:r>
              <a:rPr dirty="0" sz="1600"/>
              <a:t>altındaysa</a:t>
            </a:r>
            <a:r>
              <a:rPr dirty="0" sz="1600" spc="-15"/>
              <a:t> </a:t>
            </a:r>
            <a:r>
              <a:rPr dirty="0" sz="1600"/>
              <a:t>model</a:t>
            </a:r>
            <a:r>
              <a:rPr dirty="0" sz="1600" spc="-20"/>
              <a:t> </a:t>
            </a:r>
            <a:r>
              <a:rPr dirty="0" sz="1600"/>
              <a:t>hiç</a:t>
            </a:r>
            <a:r>
              <a:rPr dirty="0" sz="1600" spc="-15"/>
              <a:t> </a:t>
            </a:r>
            <a:r>
              <a:rPr dirty="0" sz="1600" spc="-10"/>
              <a:t>çağrılmaz.</a:t>
            </a:r>
            <a:endParaRPr sz="1600">
              <a:latin typeface="Segoe UI Semibold"/>
              <a:cs typeface="Segoe UI Semibold"/>
            </a:endParaRPr>
          </a:p>
          <a:p>
            <a:pPr marL="12700" marR="1031240" indent="167640">
              <a:lnSpc>
                <a:spcPct val="125000"/>
              </a:lnSpc>
              <a:spcBef>
                <a:spcPts val="1125"/>
              </a:spcBef>
              <a:buAutoNum type="arabicPlain"/>
              <a:tabLst>
                <a:tab pos="180340" algn="l"/>
              </a:tabLst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—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Alan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kapısı.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/>
              <a:t>Soruda</a:t>
            </a:r>
            <a:r>
              <a:rPr dirty="0" sz="1600" spc="-20"/>
              <a:t> </a:t>
            </a:r>
            <a:r>
              <a:rPr dirty="0" sz="1600"/>
              <a:t>miyelom</a:t>
            </a:r>
            <a:r>
              <a:rPr dirty="0" sz="1600" spc="-25"/>
              <a:t> </a:t>
            </a:r>
            <a:r>
              <a:rPr dirty="0" sz="1600"/>
              <a:t>varlığı</a:t>
            </a:r>
            <a:r>
              <a:rPr dirty="0" sz="1600" spc="-25"/>
              <a:t> </a:t>
            </a:r>
            <a:r>
              <a:rPr dirty="0" sz="1600"/>
              <a:t>tanınıyor</a:t>
            </a:r>
            <a:r>
              <a:rPr dirty="0" sz="1600" spc="-20"/>
              <a:t> </a:t>
            </a:r>
            <a:r>
              <a:rPr dirty="0" sz="1600"/>
              <a:t>mu,</a:t>
            </a:r>
            <a:r>
              <a:rPr dirty="0" sz="1600" spc="-25"/>
              <a:t> </a:t>
            </a:r>
            <a:r>
              <a:rPr dirty="0" sz="1600"/>
              <a:t>ya</a:t>
            </a:r>
            <a:r>
              <a:rPr dirty="0" sz="1600" spc="-25"/>
              <a:t> </a:t>
            </a:r>
            <a:r>
              <a:rPr dirty="0" sz="1600"/>
              <a:t>da</a:t>
            </a:r>
            <a:r>
              <a:rPr dirty="0" sz="1600" spc="-20"/>
              <a:t> </a:t>
            </a:r>
            <a:r>
              <a:rPr dirty="0" sz="1600"/>
              <a:t>getirilen</a:t>
            </a:r>
            <a:r>
              <a:rPr dirty="0" sz="1600" spc="-25"/>
              <a:t> </a:t>
            </a:r>
            <a:r>
              <a:rPr dirty="0" sz="1600"/>
              <a:t>parçaların</a:t>
            </a:r>
            <a:r>
              <a:rPr dirty="0" sz="1600" spc="-25"/>
              <a:t> </a:t>
            </a:r>
            <a:r>
              <a:rPr dirty="0" sz="1600"/>
              <a:t>¾'ü</a:t>
            </a:r>
            <a:r>
              <a:rPr dirty="0" sz="1600" spc="-25"/>
              <a:t> </a:t>
            </a:r>
            <a:r>
              <a:rPr dirty="0" sz="1600" spc="-10"/>
              <a:t>hastalık </a:t>
            </a:r>
            <a:r>
              <a:rPr dirty="0" sz="1600"/>
              <a:t>etiketi</a:t>
            </a:r>
            <a:r>
              <a:rPr dirty="0" sz="1600" spc="-55"/>
              <a:t> </a:t>
            </a:r>
            <a:r>
              <a:rPr dirty="0" sz="1600"/>
              <a:t>taşıyor</a:t>
            </a:r>
            <a:r>
              <a:rPr dirty="0" sz="1600" spc="-50"/>
              <a:t> </a:t>
            </a:r>
            <a:r>
              <a:rPr dirty="0" sz="1600" spc="-25"/>
              <a:t>mu?</a:t>
            </a:r>
            <a:endParaRPr sz="1600">
              <a:latin typeface="Segoe UI Semibold"/>
              <a:cs typeface="Segoe UI Semibold"/>
            </a:endParaRPr>
          </a:p>
          <a:p>
            <a:pPr marL="12700" marR="1214120" indent="167640">
              <a:lnSpc>
                <a:spcPct val="125000"/>
              </a:lnSpc>
              <a:spcBef>
                <a:spcPts val="1125"/>
              </a:spcBef>
              <a:buAutoNum type="arabicPlain"/>
              <a:tabLst>
                <a:tab pos="180340" algn="l"/>
              </a:tabLst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—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Dayanaklılık.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/>
              <a:t>Üretilen</a:t>
            </a:r>
            <a:r>
              <a:rPr dirty="0" sz="1600" spc="-30"/>
              <a:t> </a:t>
            </a:r>
            <a:r>
              <a:rPr dirty="0" sz="1600"/>
              <a:t>cevabın</a:t>
            </a:r>
            <a:r>
              <a:rPr dirty="0" sz="1600" spc="-30"/>
              <a:t> </a:t>
            </a:r>
            <a:r>
              <a:rPr dirty="0" sz="1600"/>
              <a:t>cümleleri</a:t>
            </a:r>
            <a:r>
              <a:rPr dirty="0" sz="1600" spc="-30"/>
              <a:t> </a:t>
            </a:r>
            <a:r>
              <a:rPr dirty="0" sz="1600"/>
              <a:t>kaynaklarda</a:t>
            </a:r>
            <a:r>
              <a:rPr dirty="0" sz="1600" spc="-30"/>
              <a:t> </a:t>
            </a:r>
            <a:r>
              <a:rPr dirty="0" sz="1600"/>
              <a:t>karşılık</a:t>
            </a:r>
            <a:r>
              <a:rPr dirty="0" sz="1600" spc="-25"/>
              <a:t> </a:t>
            </a:r>
            <a:r>
              <a:rPr dirty="0" sz="1600"/>
              <a:t>buluyor</a:t>
            </a:r>
            <a:r>
              <a:rPr dirty="0" sz="1600" spc="-30"/>
              <a:t> </a:t>
            </a:r>
            <a:r>
              <a:rPr dirty="0" sz="1600"/>
              <a:t>mu?</a:t>
            </a:r>
            <a:r>
              <a:rPr dirty="0" sz="1600" spc="-30"/>
              <a:t> </a:t>
            </a:r>
            <a:r>
              <a:rPr dirty="0" sz="1600" spc="-10"/>
              <a:t>Bulmuyorsa </a:t>
            </a:r>
            <a:r>
              <a:rPr dirty="0" sz="1600"/>
              <a:t>cevap</a:t>
            </a:r>
            <a:r>
              <a:rPr dirty="0" sz="1600" spc="-45"/>
              <a:t> </a:t>
            </a:r>
            <a:r>
              <a:rPr dirty="0" sz="1600" spc="-10"/>
              <a:t>gösterilmez.</a:t>
            </a:r>
            <a:endParaRPr sz="16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600"/>
          </a:p>
          <a:p>
            <a:pPr marL="276225" marR="737870">
              <a:lnSpc>
                <a:spcPct val="129800"/>
              </a:lnSpc>
            </a:pPr>
            <a:r>
              <a:rPr dirty="0"/>
              <a:t>Kullanıcıya</a:t>
            </a:r>
            <a:r>
              <a:rPr dirty="0" spc="-15"/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sayı</a:t>
            </a:r>
            <a:r>
              <a:rPr dirty="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değil</a:t>
            </a:r>
            <a:r>
              <a:rPr dirty="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kategori</a:t>
            </a:r>
            <a:r>
              <a:rPr dirty="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/>
              <a:t>gösteriliyor:</a:t>
            </a:r>
            <a:r>
              <a:rPr dirty="0" spc="-20"/>
              <a:t> </a:t>
            </a:r>
            <a:r>
              <a:rPr dirty="0"/>
              <a:t>yüksek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/>
              <a:t>orta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20"/>
              <a:t> </a:t>
            </a:r>
            <a:r>
              <a:rPr dirty="0"/>
              <a:t>düşük.</a:t>
            </a:r>
            <a:r>
              <a:rPr dirty="0" spc="-20"/>
              <a:t> </a:t>
            </a:r>
            <a:r>
              <a:rPr dirty="0"/>
              <a:t>Kalibrasyon</a:t>
            </a:r>
            <a:r>
              <a:rPr dirty="0" spc="-20"/>
              <a:t> </a:t>
            </a:r>
            <a:r>
              <a:rPr dirty="0"/>
              <a:t>verisi</a:t>
            </a:r>
            <a:r>
              <a:rPr dirty="0" spc="-15"/>
              <a:t> </a:t>
            </a:r>
            <a:r>
              <a:rPr dirty="0"/>
              <a:t>olmadan</a:t>
            </a:r>
            <a:r>
              <a:rPr dirty="0" spc="-20"/>
              <a:t> </a:t>
            </a:r>
            <a:r>
              <a:rPr dirty="0"/>
              <a:t>"%87</a:t>
            </a:r>
            <a:r>
              <a:rPr dirty="0" spc="-20"/>
              <a:t> </a:t>
            </a:r>
            <a:r>
              <a:rPr dirty="0"/>
              <a:t>doğru"</a:t>
            </a:r>
            <a:r>
              <a:rPr dirty="0" spc="-20"/>
              <a:t> </a:t>
            </a:r>
            <a:r>
              <a:rPr dirty="0" spc="-10"/>
              <a:t>demek, </a:t>
            </a:r>
            <a:r>
              <a:rPr dirty="0"/>
              <a:t>doğrulanamayan</a:t>
            </a:r>
            <a:r>
              <a:rPr dirty="0" spc="-45"/>
              <a:t> </a:t>
            </a:r>
            <a:r>
              <a:rPr dirty="0"/>
              <a:t>bir</a:t>
            </a:r>
            <a:r>
              <a:rPr dirty="0" spc="-45"/>
              <a:t> </a:t>
            </a:r>
            <a:r>
              <a:rPr dirty="0"/>
              <a:t>kesinlik</a:t>
            </a:r>
            <a:r>
              <a:rPr dirty="0" spc="-45"/>
              <a:t> </a:t>
            </a:r>
            <a:r>
              <a:rPr dirty="0"/>
              <a:t>üretmek</a:t>
            </a:r>
            <a:r>
              <a:rPr dirty="0" spc="-45"/>
              <a:t> </a:t>
            </a:r>
            <a:r>
              <a:rPr dirty="0" spc="-10"/>
              <a:t>olurdu.</a:t>
            </a:r>
          </a:p>
        </p:txBody>
      </p:sp>
      <p:sp>
        <p:nvSpPr>
          <p:cNvPr id="7" name="object 7"/>
          <p:cNvSpPr/>
          <p:nvPr/>
        </p:nvSpPr>
        <p:spPr>
          <a:xfrm>
            <a:off x="723899" y="5676896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81" y="5702783"/>
            <a:ext cx="58293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GÜVENLİK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3581396"/>
            <a:ext cx="9248775" cy="876300"/>
            <a:chOff x="723899" y="3581396"/>
            <a:chExt cx="9248775" cy="876300"/>
          </a:xfrm>
        </p:grpSpPr>
        <p:sp>
          <p:nvSpPr>
            <p:cNvPr id="3" name="object 3"/>
            <p:cNvSpPr/>
            <p:nvPr/>
          </p:nvSpPr>
          <p:spPr>
            <a:xfrm>
              <a:off x="723899" y="3581396"/>
              <a:ext cx="9248775" cy="876300"/>
            </a:xfrm>
            <a:custGeom>
              <a:avLst/>
              <a:gdLst/>
              <a:ahLst/>
              <a:cxnLst/>
              <a:rect l="l" t="t" r="r" b="b"/>
              <a:pathLst>
                <a:path w="9248775" h="876300">
                  <a:moveTo>
                    <a:pt x="924877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876299"/>
                  </a:lnTo>
                  <a:close/>
                </a:path>
              </a:pathLst>
            </a:custGeom>
            <a:solidFill>
              <a:srgbClr val="F1F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3581396"/>
              <a:ext cx="47625" cy="876300"/>
            </a:xfrm>
            <a:custGeom>
              <a:avLst/>
              <a:gdLst/>
              <a:ahLst/>
              <a:cxnLst/>
              <a:rect l="l" t="t" r="r" b="b"/>
              <a:pathLst>
                <a:path w="47625" h="876300">
                  <a:moveTo>
                    <a:pt x="47624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876299"/>
                  </a:lnTo>
                  <a:close/>
                </a:path>
              </a:pathLst>
            </a:custGeom>
            <a:solidFill>
              <a:srgbClr val="1580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Ölçümü</a:t>
            </a:r>
            <a:r>
              <a:rPr dirty="0" spc="-15"/>
              <a:t> </a:t>
            </a:r>
            <a:r>
              <a:rPr dirty="0"/>
              <a:t>dürüst</a:t>
            </a:r>
            <a:r>
              <a:rPr dirty="0" spc="-10"/>
              <a:t> tutmak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038347"/>
            <a:ext cx="76200" cy="761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2438397"/>
            <a:ext cx="76200" cy="7619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999" y="2828922"/>
            <a:ext cx="76200" cy="7619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999" y="3219446"/>
            <a:ext cx="76200" cy="7619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036955">
              <a:lnSpc>
                <a:spcPct val="125000"/>
              </a:lnSpc>
              <a:spcBef>
                <a:spcPts val="100"/>
              </a:spcBef>
            </a:pPr>
            <a:r>
              <a:rPr dirty="0" sz="1600"/>
              <a:t>Eşikler</a:t>
            </a:r>
            <a:r>
              <a:rPr dirty="0" sz="1600" spc="-25"/>
              <a:t> </a:t>
            </a:r>
            <a:r>
              <a:rPr dirty="0" sz="1600"/>
              <a:t>önce</a:t>
            </a:r>
            <a:r>
              <a:rPr dirty="0" sz="1600" spc="-25"/>
              <a:t> </a:t>
            </a:r>
            <a:r>
              <a:rPr dirty="0" sz="1600"/>
              <a:t>dört</a:t>
            </a:r>
            <a:r>
              <a:rPr dirty="0" sz="1600" spc="-20"/>
              <a:t> </a:t>
            </a:r>
            <a:r>
              <a:rPr dirty="0" sz="1600"/>
              <a:t>demo</a:t>
            </a:r>
            <a:r>
              <a:rPr dirty="0" sz="1600" spc="-25"/>
              <a:t> </a:t>
            </a:r>
            <a:r>
              <a:rPr dirty="0" sz="1600"/>
              <a:t>cevabına</a:t>
            </a:r>
            <a:r>
              <a:rPr dirty="0" sz="1600" spc="-20"/>
              <a:t> </a:t>
            </a:r>
            <a:r>
              <a:rPr dirty="0" sz="1600"/>
              <a:t>bakılarak</a:t>
            </a:r>
            <a:r>
              <a:rPr dirty="0" sz="1600" spc="-25"/>
              <a:t> </a:t>
            </a:r>
            <a:r>
              <a:rPr dirty="0" sz="1600"/>
              <a:t>seçilmişti</a:t>
            </a:r>
            <a:r>
              <a:rPr dirty="0" sz="1600" spc="-25"/>
              <a:t> </a:t>
            </a:r>
            <a:r>
              <a:rPr dirty="0" sz="1600"/>
              <a:t>—</a:t>
            </a:r>
            <a:r>
              <a:rPr dirty="0" sz="1600" spc="-15"/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sınavı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gördükten</a:t>
            </a:r>
            <a:r>
              <a:rPr dirty="0" sz="16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sonra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geçme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 spc="-20">
                <a:solidFill>
                  <a:srgbClr val="1F4E78"/>
                </a:solidFill>
                <a:latin typeface="Segoe UI Semibold"/>
                <a:cs typeface="Segoe UI Semibold"/>
              </a:rPr>
              <a:t>notu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belirlemek</a:t>
            </a:r>
            <a:r>
              <a:rPr dirty="0" sz="1600" spc="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 spc="-20"/>
              <a:t>gibi.</a:t>
            </a:r>
            <a:endParaRPr sz="1600">
              <a:latin typeface="Segoe UI Semibold"/>
              <a:cs typeface="Segoe UI Semibold"/>
            </a:endParaRPr>
          </a:p>
          <a:p>
            <a:pPr marL="264160">
              <a:lnSpc>
                <a:spcPct val="100000"/>
              </a:lnSpc>
              <a:spcBef>
                <a:spcPts val="1605"/>
              </a:spcBef>
            </a:pPr>
            <a:r>
              <a:rPr dirty="0" sz="1600"/>
              <a:t>78</a:t>
            </a:r>
            <a:r>
              <a:rPr dirty="0" sz="1600" spc="-20"/>
              <a:t> </a:t>
            </a:r>
            <a:r>
              <a:rPr dirty="0" sz="1600"/>
              <a:t>soru</a:t>
            </a:r>
            <a:r>
              <a:rPr dirty="0" sz="1600" spc="-20"/>
              <a:t> </a:t>
            </a:r>
            <a:r>
              <a:rPr dirty="0" sz="1600"/>
              <a:t>ikiye</a:t>
            </a:r>
            <a:r>
              <a:rPr dirty="0" sz="1600" spc="-20"/>
              <a:t> </a:t>
            </a:r>
            <a:r>
              <a:rPr dirty="0" sz="1600"/>
              <a:t>bölündü:</a:t>
            </a:r>
            <a:r>
              <a:rPr dirty="0" sz="1600" spc="-10"/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A</a:t>
            </a:r>
            <a:r>
              <a:rPr dirty="0" sz="16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/>
              <a:t>ve</a:t>
            </a:r>
            <a:r>
              <a:rPr dirty="0" sz="1600" spc="-15"/>
              <a:t> </a:t>
            </a:r>
            <a:r>
              <a:rPr dirty="0" sz="1600" spc="-50">
                <a:solidFill>
                  <a:srgbClr val="1F4E78"/>
                </a:solidFill>
                <a:latin typeface="Segoe UI Semibold"/>
                <a:cs typeface="Segoe UI Semibold"/>
              </a:rPr>
              <a:t>B</a:t>
            </a:r>
            <a:endParaRPr sz="1600">
              <a:latin typeface="Segoe UI Semibold"/>
              <a:cs typeface="Segoe UI Semibold"/>
            </a:endParaRPr>
          </a:p>
          <a:p>
            <a:pPr marL="264160" marR="3448050">
              <a:lnSpc>
                <a:spcPct val="160200"/>
              </a:lnSpc>
              <a:spcBef>
                <a:spcPts val="75"/>
              </a:spcBef>
            </a:pPr>
            <a:r>
              <a:rPr dirty="0" sz="1600"/>
              <a:t>Eşikler</a:t>
            </a:r>
            <a:r>
              <a:rPr dirty="0" sz="1600" spc="-25"/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yalnızca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A</a:t>
            </a:r>
            <a:r>
              <a:rPr dirty="0" sz="1600"/>
              <a:t>'ya</a:t>
            </a:r>
            <a:r>
              <a:rPr dirty="0" sz="1600" spc="-30"/>
              <a:t> </a:t>
            </a:r>
            <a:r>
              <a:rPr dirty="0" sz="1600"/>
              <a:t>bakılarak</a:t>
            </a:r>
            <a:r>
              <a:rPr dirty="0" sz="1600" spc="-30"/>
              <a:t> </a:t>
            </a:r>
            <a:r>
              <a:rPr dirty="0" sz="1600"/>
              <a:t>seçildi</a:t>
            </a:r>
            <a:r>
              <a:rPr dirty="0" sz="1600" spc="-30"/>
              <a:t> </a:t>
            </a:r>
            <a:r>
              <a:rPr dirty="0" sz="1600"/>
              <a:t>ve</a:t>
            </a:r>
            <a:r>
              <a:rPr dirty="0" sz="1600" spc="-30"/>
              <a:t> </a:t>
            </a:r>
            <a:r>
              <a:rPr dirty="0" sz="1600" spc="-10"/>
              <a:t>donduruldu </a:t>
            </a:r>
            <a:r>
              <a:rPr dirty="0" sz="1600"/>
              <a:t>Raporlanan</a:t>
            </a:r>
            <a:r>
              <a:rPr dirty="0" sz="1600" spc="-25"/>
              <a:t> </a:t>
            </a:r>
            <a:r>
              <a:rPr dirty="0" sz="1600"/>
              <a:t>rakam</a:t>
            </a:r>
            <a:r>
              <a:rPr dirty="0" sz="1600" spc="-15"/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B</a:t>
            </a:r>
            <a:r>
              <a:rPr dirty="0" sz="1600"/>
              <a:t>'den</a:t>
            </a:r>
            <a:r>
              <a:rPr dirty="0" sz="1600" spc="-25"/>
              <a:t> </a:t>
            </a:r>
            <a:r>
              <a:rPr dirty="0" sz="1600"/>
              <a:t>—</a:t>
            </a:r>
            <a:r>
              <a:rPr dirty="0" sz="1600" spc="-20"/>
              <a:t> </a:t>
            </a:r>
            <a:r>
              <a:rPr dirty="0" sz="1600"/>
              <a:t>eşiklerin</a:t>
            </a:r>
            <a:r>
              <a:rPr dirty="0" sz="1600" spc="-25"/>
              <a:t> </a:t>
            </a:r>
            <a:r>
              <a:rPr dirty="0" sz="1600"/>
              <a:t>hiç</a:t>
            </a:r>
            <a:r>
              <a:rPr dirty="0" sz="1600" spc="-20"/>
              <a:t> </a:t>
            </a:r>
            <a:r>
              <a:rPr dirty="0" sz="1600"/>
              <a:t>görmediği</a:t>
            </a:r>
            <a:r>
              <a:rPr dirty="0" sz="1600" spc="-25"/>
              <a:t> </a:t>
            </a:r>
            <a:r>
              <a:rPr dirty="0" sz="1600" spc="-10"/>
              <a:t>sorulardan </a:t>
            </a:r>
            <a:r>
              <a:rPr dirty="0" sz="1600"/>
              <a:t>Aynı</a:t>
            </a:r>
            <a:r>
              <a:rPr dirty="0" sz="1600" spc="-30"/>
              <a:t> </a:t>
            </a:r>
            <a:r>
              <a:rPr dirty="0" sz="1600"/>
              <a:t>ayrım</a:t>
            </a:r>
            <a:r>
              <a:rPr dirty="0" sz="1600" spc="-25"/>
              <a:t> </a:t>
            </a:r>
            <a:r>
              <a:rPr dirty="0" sz="1600"/>
              <a:t>model</a:t>
            </a:r>
            <a:r>
              <a:rPr dirty="0" sz="1600" spc="-25"/>
              <a:t> </a:t>
            </a:r>
            <a:r>
              <a:rPr dirty="0" sz="1600"/>
              <a:t>seçiminde</a:t>
            </a:r>
            <a:r>
              <a:rPr dirty="0" sz="1600" spc="-25"/>
              <a:t> </a:t>
            </a:r>
            <a:r>
              <a:rPr dirty="0" sz="1600"/>
              <a:t>de</a:t>
            </a:r>
            <a:r>
              <a:rPr dirty="0" sz="1600" spc="-25"/>
              <a:t> </a:t>
            </a:r>
            <a:r>
              <a:rPr dirty="0" sz="1600" spc="-10"/>
              <a:t>uygulandı</a:t>
            </a:r>
            <a:endParaRPr sz="16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600"/>
          </a:p>
          <a:p>
            <a:pPr marL="276225" marR="864869">
              <a:lnSpc>
                <a:spcPct val="129800"/>
              </a:lnSpc>
            </a:pPr>
            <a:r>
              <a:rPr dirty="0"/>
              <a:t>Kurgu</a:t>
            </a:r>
            <a:r>
              <a:rPr dirty="0" spc="-25"/>
              <a:t> </a:t>
            </a:r>
            <a:r>
              <a:rPr dirty="0"/>
              <a:t>ilk</a:t>
            </a:r>
            <a:r>
              <a:rPr dirty="0" spc="-25"/>
              <a:t> </a:t>
            </a:r>
            <a:r>
              <a:rPr dirty="0"/>
              <a:t>denemede</a:t>
            </a:r>
            <a:r>
              <a:rPr dirty="0" spc="-25"/>
              <a:t> </a:t>
            </a:r>
            <a:r>
              <a:rPr dirty="0"/>
              <a:t>haklı</a:t>
            </a:r>
            <a:r>
              <a:rPr dirty="0" spc="-20"/>
              <a:t> </a:t>
            </a:r>
            <a:r>
              <a:rPr dirty="0"/>
              <a:t>çıktı:</a:t>
            </a:r>
            <a:r>
              <a:rPr dirty="0" spc="-25"/>
              <a:t> </a:t>
            </a:r>
            <a:r>
              <a:rPr dirty="0"/>
              <a:t>eşik,</a:t>
            </a:r>
            <a:r>
              <a:rPr dirty="0" spc="-25"/>
              <a:t> </a:t>
            </a:r>
            <a:r>
              <a:rPr dirty="0"/>
              <a:t>seçildiği</a:t>
            </a:r>
            <a:r>
              <a:rPr dirty="0" spc="-20"/>
              <a:t> </a:t>
            </a:r>
            <a:r>
              <a:rPr dirty="0"/>
              <a:t>yarıda</a:t>
            </a:r>
            <a:r>
              <a:rPr dirty="0" spc="-25"/>
              <a:t> </a:t>
            </a:r>
            <a:r>
              <a:rPr dirty="0"/>
              <a:t>sıfır</a:t>
            </a:r>
            <a:r>
              <a:rPr dirty="0" spc="-25"/>
              <a:t> </a:t>
            </a:r>
            <a:r>
              <a:rPr dirty="0"/>
              <a:t>uydurma</a:t>
            </a:r>
            <a:r>
              <a:rPr dirty="0" spc="-20"/>
              <a:t> </a:t>
            </a:r>
            <a:r>
              <a:rPr dirty="0"/>
              <a:t>verirken</a:t>
            </a:r>
            <a:r>
              <a:rPr dirty="0" spc="-25"/>
              <a:t> </a:t>
            </a:r>
            <a:r>
              <a:rPr dirty="0"/>
              <a:t>görmediği</a:t>
            </a:r>
            <a:r>
              <a:rPr dirty="0" spc="-25"/>
              <a:t> </a:t>
            </a:r>
            <a:r>
              <a:rPr dirty="0"/>
              <a:t>yarıda</a:t>
            </a:r>
            <a:r>
              <a:rPr dirty="0" spc="-20"/>
              <a:t> </a:t>
            </a:r>
            <a:r>
              <a:rPr dirty="0"/>
              <a:t>bir</a:t>
            </a:r>
            <a:r>
              <a:rPr dirty="0" spc="-25"/>
              <a:t> </a:t>
            </a:r>
            <a:r>
              <a:rPr dirty="0"/>
              <a:t>uydurma</a:t>
            </a:r>
            <a:r>
              <a:rPr dirty="0" spc="-25"/>
              <a:t> </a:t>
            </a:r>
            <a:r>
              <a:rPr dirty="0" spc="-10"/>
              <a:t>geçirdi. </a:t>
            </a:r>
            <a:r>
              <a:rPr dirty="0"/>
              <a:t>Bütün</a:t>
            </a:r>
            <a:r>
              <a:rPr dirty="0" spc="-40"/>
              <a:t> </a:t>
            </a:r>
            <a:r>
              <a:rPr dirty="0"/>
              <a:t>kümeye</a:t>
            </a:r>
            <a:r>
              <a:rPr dirty="0" spc="-35"/>
              <a:t> </a:t>
            </a:r>
            <a:r>
              <a:rPr dirty="0"/>
              <a:t>baksaydık</a:t>
            </a:r>
            <a:r>
              <a:rPr dirty="0" spc="-35"/>
              <a:t> </a:t>
            </a:r>
            <a:r>
              <a:rPr dirty="0"/>
              <a:t>"sistem</a:t>
            </a:r>
            <a:r>
              <a:rPr dirty="0" spc="-40"/>
              <a:t> </a:t>
            </a:r>
            <a:r>
              <a:rPr dirty="0"/>
              <a:t>hiç</a:t>
            </a:r>
            <a:r>
              <a:rPr dirty="0" spc="-35"/>
              <a:t> </a:t>
            </a:r>
            <a:r>
              <a:rPr dirty="0"/>
              <a:t>uydurmuyor"</a:t>
            </a:r>
            <a:r>
              <a:rPr dirty="0" spc="-35"/>
              <a:t> </a:t>
            </a:r>
            <a:r>
              <a:rPr dirty="0"/>
              <a:t>diye</a:t>
            </a:r>
            <a:r>
              <a:rPr dirty="0" spc="-35"/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yanlış</a:t>
            </a:r>
            <a:r>
              <a:rPr dirty="0" spc="-3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/>
              <a:t>bir</a:t>
            </a:r>
            <a:r>
              <a:rPr dirty="0" spc="-40"/>
              <a:t> </a:t>
            </a:r>
            <a:r>
              <a:rPr dirty="0"/>
              <a:t>cümle</a:t>
            </a:r>
            <a:r>
              <a:rPr dirty="0" spc="-35"/>
              <a:t> </a:t>
            </a:r>
            <a:r>
              <a:rPr dirty="0" spc="-10"/>
              <a:t>kuracaktık.</a:t>
            </a:r>
          </a:p>
        </p:txBody>
      </p:sp>
      <p:sp>
        <p:nvSpPr>
          <p:cNvPr id="11" name="object 11"/>
          <p:cNvSpPr/>
          <p:nvPr/>
        </p:nvSpPr>
        <p:spPr>
          <a:xfrm>
            <a:off x="723899" y="5676896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7181" y="5702783"/>
            <a:ext cx="96583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DEĞERLENDİRME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857371"/>
            <a:ext cx="9248775" cy="1524000"/>
            <a:chOff x="723899" y="1857371"/>
            <a:chExt cx="9248775" cy="1524000"/>
          </a:xfrm>
        </p:grpSpPr>
        <p:sp>
          <p:nvSpPr>
            <p:cNvPr id="3" name="object 3"/>
            <p:cNvSpPr/>
            <p:nvPr/>
          </p:nvSpPr>
          <p:spPr>
            <a:xfrm>
              <a:off x="723899" y="1857371"/>
              <a:ext cx="9248775" cy="1524000"/>
            </a:xfrm>
            <a:custGeom>
              <a:avLst/>
              <a:gdLst/>
              <a:ahLst/>
              <a:cxnLst/>
              <a:rect l="l" t="t" r="r" b="b"/>
              <a:pathLst>
                <a:path w="9248775" h="1524000">
                  <a:moveTo>
                    <a:pt x="9248774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1523999"/>
                  </a:lnTo>
                  <a:close/>
                </a:path>
              </a:pathLst>
            </a:custGeom>
            <a:solidFill>
              <a:srgbClr val="FDF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1857371"/>
              <a:ext cx="47625" cy="1524000"/>
            </a:xfrm>
            <a:custGeom>
              <a:avLst/>
              <a:gdLst/>
              <a:ahLst/>
              <a:cxnLst/>
              <a:rect l="l" t="t" r="r" b="b"/>
              <a:pathLst>
                <a:path w="47625" h="1524000">
                  <a:moveTo>
                    <a:pt x="47624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1523999"/>
                  </a:lnTo>
                  <a:close/>
                </a:path>
              </a:pathLst>
            </a:custGeom>
            <a:solidFill>
              <a:srgbClr val="B453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Ölçüt</a:t>
            </a:r>
            <a:r>
              <a:rPr dirty="0" spc="-15"/>
              <a:t> </a:t>
            </a:r>
            <a:r>
              <a:rPr dirty="0" spc="-20"/>
              <a:t>krizi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/>
              <a:t>İlk</a:t>
            </a:r>
            <a:r>
              <a:rPr dirty="0" spc="-30"/>
              <a:t> </a:t>
            </a:r>
            <a:r>
              <a:rPr dirty="0"/>
              <a:t>sonuçlar</a:t>
            </a:r>
            <a:r>
              <a:rPr dirty="0" spc="-25"/>
              <a:t> </a:t>
            </a:r>
            <a:r>
              <a:rPr dirty="0"/>
              <a:t>sistemi</a:t>
            </a:r>
            <a:r>
              <a:rPr dirty="0" spc="-25"/>
              <a:t> </a:t>
            </a:r>
            <a:r>
              <a:rPr dirty="0"/>
              <a:t>"aşırı</a:t>
            </a:r>
            <a:r>
              <a:rPr dirty="0" spc="-25"/>
              <a:t> </a:t>
            </a:r>
            <a:r>
              <a:rPr dirty="0"/>
              <a:t>ihtiyatlı"</a:t>
            </a:r>
            <a:r>
              <a:rPr dirty="0" spc="-25"/>
              <a:t> </a:t>
            </a:r>
            <a:r>
              <a:rPr dirty="0"/>
              <a:t>gösteriyordu.</a:t>
            </a:r>
            <a:r>
              <a:rPr dirty="0" spc="-25"/>
              <a:t> </a:t>
            </a:r>
            <a:r>
              <a:rPr dirty="0"/>
              <a:t>Ölçüt</a:t>
            </a:r>
            <a:r>
              <a:rPr dirty="0" spc="-30"/>
              <a:t> </a:t>
            </a:r>
            <a:r>
              <a:rPr dirty="0"/>
              <a:t>bozuktu:</a:t>
            </a:r>
            <a:r>
              <a:rPr dirty="0" spc="-25"/>
              <a:t> </a:t>
            </a:r>
            <a:r>
              <a:rPr dirty="0"/>
              <a:t>dayanaklılık,</a:t>
            </a:r>
            <a:r>
              <a:rPr dirty="0" spc="-25"/>
              <a:t> </a:t>
            </a:r>
            <a:r>
              <a:rPr dirty="0"/>
              <a:t>cevap</a:t>
            </a:r>
            <a:r>
              <a:rPr dirty="0" spc="-25"/>
              <a:t> </a:t>
            </a:r>
            <a:r>
              <a:rPr dirty="0"/>
              <a:t>ile</a:t>
            </a:r>
            <a:r>
              <a:rPr dirty="0" spc="-25"/>
              <a:t> </a:t>
            </a:r>
            <a:r>
              <a:rPr dirty="0"/>
              <a:t>kaynağın</a:t>
            </a:r>
            <a:r>
              <a:rPr dirty="0" spc="-25"/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ortak</a:t>
            </a:r>
            <a:r>
              <a:rPr dirty="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pc="-10">
                <a:solidFill>
                  <a:srgbClr val="1F4E78"/>
                </a:solidFill>
                <a:latin typeface="Segoe UI Semibold"/>
                <a:cs typeface="Segoe UI Semibold"/>
              </a:rPr>
              <a:t>kelimelerine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pc="-10"/>
              <a:t>bakıyordu.</a:t>
            </a:r>
          </a:p>
          <a:p>
            <a:pPr>
              <a:lnSpc>
                <a:spcPct val="100000"/>
              </a:lnSpc>
              <a:spcBef>
                <a:spcPts val="1585"/>
              </a:spcBef>
            </a:pPr>
          </a:p>
          <a:p>
            <a:pPr marL="276225">
              <a:lnSpc>
                <a:spcPct val="100000"/>
              </a:lnSpc>
            </a:pPr>
            <a:r>
              <a:rPr dirty="0"/>
              <a:t>Kaynak:</a:t>
            </a:r>
            <a:r>
              <a:rPr dirty="0" spc="-15"/>
              <a:t> </a:t>
            </a:r>
            <a:r>
              <a:rPr dirty="0">
                <a:solidFill>
                  <a:srgbClr val="5B6A79"/>
                </a:solidFill>
              </a:rPr>
              <a:t>"administer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27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mg/m²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on</a:t>
            </a:r>
            <a:r>
              <a:rPr dirty="0" spc="-20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days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1,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2,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8,</a:t>
            </a:r>
            <a:r>
              <a:rPr dirty="0" spc="-15">
                <a:solidFill>
                  <a:srgbClr val="5B6A79"/>
                </a:solidFill>
              </a:rPr>
              <a:t> </a:t>
            </a:r>
            <a:r>
              <a:rPr dirty="0" spc="-25">
                <a:solidFill>
                  <a:srgbClr val="5B6A79"/>
                </a:solidFill>
              </a:rPr>
              <a:t>9"</a:t>
            </a:r>
          </a:p>
          <a:p>
            <a:pPr marL="276225">
              <a:lnSpc>
                <a:spcPct val="100000"/>
              </a:lnSpc>
              <a:spcBef>
                <a:spcPts val="390"/>
              </a:spcBef>
            </a:pPr>
            <a:r>
              <a:rPr dirty="0"/>
              <a:t>Cevap:</a:t>
            </a:r>
            <a:r>
              <a:rPr dirty="0" spc="-20"/>
              <a:t> </a:t>
            </a:r>
            <a:r>
              <a:rPr dirty="0">
                <a:solidFill>
                  <a:srgbClr val="5B6A79"/>
                </a:solidFill>
              </a:rPr>
              <a:t>"27</a:t>
            </a:r>
            <a:r>
              <a:rPr dirty="0" spc="-2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mg/m²</a:t>
            </a:r>
            <a:r>
              <a:rPr dirty="0" spc="-2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dozunda</a:t>
            </a:r>
            <a:r>
              <a:rPr dirty="0" spc="-20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1,</a:t>
            </a:r>
            <a:r>
              <a:rPr dirty="0" spc="-2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2,</a:t>
            </a:r>
            <a:r>
              <a:rPr dirty="0" spc="-2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8</a:t>
            </a:r>
            <a:r>
              <a:rPr dirty="0" spc="-20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ve</a:t>
            </a:r>
            <a:r>
              <a:rPr dirty="0" spc="-2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9.</a:t>
            </a:r>
            <a:r>
              <a:rPr dirty="0" spc="-25">
                <a:solidFill>
                  <a:srgbClr val="5B6A79"/>
                </a:solidFill>
              </a:rPr>
              <a:t> </a:t>
            </a:r>
            <a:r>
              <a:rPr dirty="0">
                <a:solidFill>
                  <a:srgbClr val="5B6A79"/>
                </a:solidFill>
              </a:rPr>
              <a:t>günlerde</a:t>
            </a:r>
            <a:r>
              <a:rPr dirty="0" spc="-20">
                <a:solidFill>
                  <a:srgbClr val="5B6A79"/>
                </a:solidFill>
              </a:rPr>
              <a:t> </a:t>
            </a:r>
            <a:r>
              <a:rPr dirty="0" spc="-10">
                <a:solidFill>
                  <a:srgbClr val="5B6A79"/>
                </a:solidFill>
              </a:rPr>
              <a:t>uygulanır"</a:t>
            </a:r>
          </a:p>
          <a:p>
            <a:pPr marL="276225">
              <a:lnSpc>
                <a:spcPct val="100000"/>
              </a:lnSpc>
              <a:spcBef>
                <a:spcPts val="1590"/>
              </a:spcBef>
            </a:pPr>
            <a:r>
              <a:rPr dirty="0"/>
              <a:t>İki</a:t>
            </a:r>
            <a:r>
              <a:rPr dirty="0" spc="-35"/>
              <a:t> </a:t>
            </a:r>
            <a:r>
              <a:rPr dirty="0"/>
              <a:t>dilli</a:t>
            </a:r>
            <a:r>
              <a:rPr dirty="0" spc="-30"/>
              <a:t> </a:t>
            </a:r>
            <a:r>
              <a:rPr dirty="0"/>
              <a:t>arşivde</a:t>
            </a:r>
            <a:r>
              <a:rPr dirty="0" spc="-30"/>
              <a:t> </a:t>
            </a:r>
            <a:r>
              <a:rPr dirty="0"/>
              <a:t>ortak</a:t>
            </a:r>
            <a:r>
              <a:rPr dirty="0" spc="-30"/>
              <a:t> </a:t>
            </a:r>
            <a:r>
              <a:rPr dirty="0"/>
              <a:t>kelime</a:t>
            </a:r>
            <a:r>
              <a:rPr dirty="0" spc="-30"/>
              <a:t> </a:t>
            </a:r>
            <a:r>
              <a:rPr dirty="0" spc="-10"/>
              <a:t>çıkmıyor.</a:t>
            </a:r>
            <a:r>
              <a:rPr dirty="0" spc="-35"/>
              <a:t> </a:t>
            </a:r>
            <a:r>
              <a:rPr dirty="0"/>
              <a:t>Ölçülen</a:t>
            </a:r>
            <a:r>
              <a:rPr dirty="0" spc="-30"/>
              <a:t> </a:t>
            </a:r>
            <a:r>
              <a:rPr dirty="0"/>
              <a:t>dayanaklılığın</a:t>
            </a:r>
            <a:r>
              <a:rPr dirty="0" spc="-30"/>
              <a:t> </a:t>
            </a:r>
            <a:r>
              <a:rPr dirty="0"/>
              <a:t>medyanı</a:t>
            </a:r>
            <a:r>
              <a:rPr dirty="0" spc="-30"/>
              <a:t> </a:t>
            </a:r>
            <a:r>
              <a:rPr dirty="0"/>
              <a:t>hem</a:t>
            </a:r>
            <a:r>
              <a:rPr dirty="0" spc="-30"/>
              <a:t> </a:t>
            </a:r>
            <a:r>
              <a:rPr dirty="0"/>
              <a:t>doğru</a:t>
            </a:r>
            <a:r>
              <a:rPr dirty="0" spc="-30"/>
              <a:t> </a:t>
            </a:r>
            <a:r>
              <a:rPr dirty="0"/>
              <a:t>hem</a:t>
            </a:r>
            <a:r>
              <a:rPr dirty="0" spc="-35"/>
              <a:t> </a:t>
            </a:r>
            <a:r>
              <a:rPr dirty="0"/>
              <a:t>uydurma</a:t>
            </a:r>
            <a:r>
              <a:rPr dirty="0" spc="-30"/>
              <a:t> </a:t>
            </a:r>
            <a:r>
              <a:rPr dirty="0"/>
              <a:t>cevaplarda</a:t>
            </a:r>
            <a:r>
              <a:rPr dirty="0" spc="-25"/>
              <a:t> </a:t>
            </a:r>
            <a:r>
              <a:rPr dirty="0">
                <a:solidFill>
                  <a:srgbClr val="1F4E78"/>
                </a:solidFill>
                <a:latin typeface="Segoe UI Semibold"/>
                <a:cs typeface="Segoe UI Semibold"/>
              </a:rPr>
              <a:t>0,00</a:t>
            </a:r>
            <a:r>
              <a:rPr dirty="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pc="-25"/>
              <a:t>idi</a:t>
            </a:r>
          </a:p>
          <a:p>
            <a:pPr marL="276225">
              <a:lnSpc>
                <a:spcPct val="100000"/>
              </a:lnSpc>
              <a:spcBef>
                <a:spcPts val="465"/>
              </a:spcBef>
            </a:pP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sistemin</a:t>
            </a:r>
            <a:r>
              <a:rPr dirty="0" spc="-20"/>
              <a:t> </a:t>
            </a:r>
            <a:r>
              <a:rPr dirty="0"/>
              <a:t>değil,</a:t>
            </a:r>
            <a:r>
              <a:rPr dirty="0" spc="-20"/>
              <a:t> </a:t>
            </a:r>
            <a:r>
              <a:rPr dirty="0"/>
              <a:t>ölçütün</a:t>
            </a:r>
            <a:r>
              <a:rPr dirty="0" spc="-20"/>
              <a:t> </a:t>
            </a:r>
            <a:r>
              <a:rPr dirty="0" spc="-10"/>
              <a:t>imzası.</a:t>
            </a:r>
          </a:p>
          <a:p>
            <a:pPr>
              <a:lnSpc>
                <a:spcPct val="100000"/>
              </a:lnSpc>
              <a:spcBef>
                <a:spcPts val="1105"/>
              </a:spcBef>
            </a:pPr>
          </a:p>
          <a:p>
            <a:pPr marL="12700" marR="1526540">
              <a:lnSpc>
                <a:spcPct val="125000"/>
              </a:lnSpc>
            </a:pPr>
            <a:r>
              <a:rPr dirty="0" sz="1600"/>
              <a:t>Ölçüt</a:t>
            </a:r>
            <a:r>
              <a:rPr dirty="0" sz="1600" spc="-25"/>
              <a:t> </a:t>
            </a:r>
            <a:r>
              <a:rPr dirty="0" sz="1600"/>
              <a:t>anlamsal</a:t>
            </a:r>
            <a:r>
              <a:rPr dirty="0" sz="1600" spc="-20"/>
              <a:t> </a:t>
            </a:r>
            <a:r>
              <a:rPr dirty="0" sz="1600"/>
              <a:t>benzerliğe</a:t>
            </a:r>
            <a:r>
              <a:rPr dirty="0" sz="1600" spc="-20"/>
              <a:t> </a:t>
            </a:r>
            <a:r>
              <a:rPr dirty="0" sz="1600"/>
              <a:t>çevrildi.</a:t>
            </a:r>
            <a:r>
              <a:rPr dirty="0" sz="1600" spc="-20"/>
              <a:t> </a:t>
            </a:r>
            <a:r>
              <a:rPr dirty="0" sz="1600"/>
              <a:t>Sonuç</a:t>
            </a:r>
            <a:r>
              <a:rPr dirty="0" sz="1600" spc="-20"/>
              <a:t> </a:t>
            </a:r>
            <a:r>
              <a:rPr dirty="0" sz="1600"/>
              <a:t>tersine</a:t>
            </a:r>
            <a:r>
              <a:rPr dirty="0" sz="1600" spc="-20"/>
              <a:t> </a:t>
            </a:r>
            <a:r>
              <a:rPr dirty="0" sz="1600"/>
              <a:t>döndü:</a:t>
            </a:r>
            <a:r>
              <a:rPr dirty="0" sz="1600" spc="-20"/>
              <a:t> </a:t>
            </a:r>
            <a:r>
              <a:rPr dirty="0" sz="1600"/>
              <a:t>sistem</a:t>
            </a:r>
            <a:r>
              <a:rPr dirty="0" sz="1600" spc="-20"/>
              <a:t> </a:t>
            </a:r>
            <a:r>
              <a:rPr dirty="0" sz="1600"/>
              <a:t>aşırı</a:t>
            </a:r>
            <a:r>
              <a:rPr dirty="0" sz="1600" spc="-20"/>
              <a:t> </a:t>
            </a:r>
            <a:r>
              <a:rPr dirty="0" sz="1600"/>
              <a:t>ihtiyatlı</a:t>
            </a:r>
            <a:r>
              <a:rPr dirty="0" sz="1600" spc="-20"/>
              <a:t> </a:t>
            </a:r>
            <a:r>
              <a:rPr dirty="0" sz="1600"/>
              <a:t>değil,</a:t>
            </a:r>
            <a:r>
              <a:rPr dirty="0" sz="1600" spc="-15"/>
              <a:t> </a:t>
            </a:r>
            <a:r>
              <a:rPr dirty="0" sz="1600" spc="-10">
                <a:solidFill>
                  <a:srgbClr val="1F4E78"/>
                </a:solidFill>
                <a:latin typeface="Segoe UI Semibold"/>
                <a:cs typeface="Segoe UI Semibold"/>
              </a:rPr>
              <a:t>aşırı cömertti</a:t>
            </a:r>
            <a:r>
              <a:rPr dirty="0" sz="1600" spc="-10"/>
              <a:t>.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3899" y="5676896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81" y="5702783"/>
            <a:ext cx="52705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HATALAR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6"/>
            <a:ext cx="9248775" cy="723900"/>
            <a:chOff x="723899" y="1162046"/>
            <a:chExt cx="9248775" cy="723900"/>
          </a:xfrm>
        </p:grpSpPr>
        <p:sp>
          <p:nvSpPr>
            <p:cNvPr id="3" name="object 3"/>
            <p:cNvSpPr/>
            <p:nvPr/>
          </p:nvSpPr>
          <p:spPr>
            <a:xfrm>
              <a:off x="723887" y="1162049"/>
              <a:ext cx="9248775" cy="361950"/>
            </a:xfrm>
            <a:custGeom>
              <a:avLst/>
              <a:gdLst/>
              <a:ahLst/>
              <a:cxnLst/>
              <a:rect l="l" t="t" r="r" b="b"/>
              <a:pathLst>
                <a:path w="9248775" h="361950">
                  <a:moveTo>
                    <a:pt x="9248775" y="0"/>
                  </a:moveTo>
                  <a:lnTo>
                    <a:pt x="72009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200900" y="361950"/>
                  </a:lnTo>
                  <a:lnTo>
                    <a:pt x="9248775" y="361950"/>
                  </a:lnTo>
                  <a:lnTo>
                    <a:pt x="9248775" y="0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87" y="1523999"/>
              <a:ext cx="9248775" cy="361950"/>
            </a:xfrm>
            <a:custGeom>
              <a:avLst/>
              <a:gdLst/>
              <a:ahLst/>
              <a:cxnLst/>
              <a:rect l="l" t="t" r="r" b="b"/>
              <a:pathLst>
                <a:path w="9248775" h="361950">
                  <a:moveTo>
                    <a:pt x="9248775" y="0"/>
                  </a:moveTo>
                  <a:lnTo>
                    <a:pt x="720090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200900" y="361950"/>
                  </a:lnTo>
                  <a:lnTo>
                    <a:pt x="9248775" y="361950"/>
                  </a:lnTo>
                  <a:lnTo>
                    <a:pt x="9248775" y="0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723887" y="2247899"/>
            <a:ext cx="9248775" cy="371475"/>
          </a:xfrm>
          <a:custGeom>
            <a:avLst/>
            <a:gdLst/>
            <a:ahLst/>
            <a:cxnLst/>
            <a:rect l="l" t="t" r="r" b="b"/>
            <a:pathLst>
              <a:path w="9248775" h="371475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371475"/>
                </a:lnTo>
                <a:lnTo>
                  <a:pt x="7200900" y="371475"/>
                </a:lnTo>
                <a:lnTo>
                  <a:pt x="9248775" y="371475"/>
                </a:lnTo>
                <a:lnTo>
                  <a:pt x="9248775" y="0"/>
                </a:lnTo>
                <a:close/>
              </a:path>
            </a:pathLst>
          </a:custGeom>
          <a:solidFill>
            <a:srgbClr val="F6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3887" y="2990849"/>
            <a:ext cx="9248775" cy="361950"/>
          </a:xfrm>
          <a:custGeom>
            <a:avLst/>
            <a:gdLst/>
            <a:ahLst/>
            <a:cxnLst/>
            <a:rect l="l" t="t" r="r" b="b"/>
            <a:pathLst>
              <a:path w="9248775" h="361950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361950"/>
                </a:lnTo>
                <a:lnTo>
                  <a:pt x="7200900" y="361950"/>
                </a:lnTo>
                <a:lnTo>
                  <a:pt x="9248775" y="361950"/>
                </a:lnTo>
                <a:lnTo>
                  <a:pt x="9248775" y="0"/>
                </a:lnTo>
                <a:close/>
              </a:path>
            </a:pathLst>
          </a:custGeom>
          <a:solidFill>
            <a:srgbClr val="F6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3887" y="187642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9525"/>
                </a:lnTo>
                <a:lnTo>
                  <a:pt x="720090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3887" y="2247899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9525"/>
                </a:lnTo>
                <a:lnTo>
                  <a:pt x="720090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3887" y="261937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9525"/>
                </a:lnTo>
                <a:lnTo>
                  <a:pt x="720090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3887" y="298132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9525"/>
                </a:lnTo>
                <a:lnTo>
                  <a:pt x="720090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3887" y="3352799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200900" y="0"/>
                </a:lnTo>
                <a:lnTo>
                  <a:pt x="0" y="0"/>
                </a:lnTo>
                <a:lnTo>
                  <a:pt x="0" y="9525"/>
                </a:lnTo>
                <a:lnTo>
                  <a:pt x="720090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Sonuçlar</a:t>
            </a:r>
            <a:r>
              <a:rPr dirty="0" spc="-35"/>
              <a:t> </a:t>
            </a:r>
            <a:r>
              <a:rPr dirty="0" sz="1300">
                <a:solidFill>
                  <a:srgbClr val="5B6A79"/>
                </a:solidFill>
              </a:rPr>
              <a:t>—</a:t>
            </a:r>
            <a:r>
              <a:rPr dirty="0" sz="1300" spc="-25">
                <a:solidFill>
                  <a:srgbClr val="5B6A79"/>
                </a:solidFill>
              </a:rPr>
              <a:t> </a:t>
            </a:r>
            <a:r>
              <a:rPr dirty="0" sz="1300">
                <a:solidFill>
                  <a:srgbClr val="5B6A79"/>
                </a:solidFill>
              </a:rPr>
              <a:t>B</a:t>
            </a:r>
            <a:r>
              <a:rPr dirty="0" sz="1300" spc="-25">
                <a:solidFill>
                  <a:srgbClr val="5B6A79"/>
                </a:solidFill>
              </a:rPr>
              <a:t> </a:t>
            </a:r>
            <a:r>
              <a:rPr dirty="0" sz="1300">
                <a:solidFill>
                  <a:srgbClr val="5B6A79"/>
                </a:solidFill>
              </a:rPr>
              <a:t>yarısı,</a:t>
            </a:r>
            <a:r>
              <a:rPr dirty="0" sz="1300" spc="-25">
                <a:solidFill>
                  <a:srgbClr val="5B6A79"/>
                </a:solidFill>
              </a:rPr>
              <a:t> </a:t>
            </a:r>
            <a:r>
              <a:rPr dirty="0" sz="1300">
                <a:solidFill>
                  <a:srgbClr val="5B6A79"/>
                </a:solidFill>
              </a:rPr>
              <a:t>eşiklerin</a:t>
            </a:r>
            <a:r>
              <a:rPr dirty="0" sz="1300" spc="-25">
                <a:solidFill>
                  <a:srgbClr val="5B6A79"/>
                </a:solidFill>
              </a:rPr>
              <a:t> </a:t>
            </a:r>
            <a:r>
              <a:rPr dirty="0" sz="1300">
                <a:solidFill>
                  <a:srgbClr val="5B6A79"/>
                </a:solidFill>
              </a:rPr>
              <a:t>görmediği</a:t>
            </a:r>
            <a:r>
              <a:rPr dirty="0" sz="1300" spc="-25">
                <a:solidFill>
                  <a:srgbClr val="5B6A79"/>
                </a:solidFill>
              </a:rPr>
              <a:t> </a:t>
            </a:r>
            <a:r>
              <a:rPr dirty="0" sz="1300">
                <a:solidFill>
                  <a:srgbClr val="5B6A79"/>
                </a:solidFill>
              </a:rPr>
              <a:t>39</a:t>
            </a:r>
            <a:r>
              <a:rPr dirty="0" sz="1300" spc="-20">
                <a:solidFill>
                  <a:srgbClr val="5B6A79"/>
                </a:solidFill>
              </a:rPr>
              <a:t> soru</a:t>
            </a:r>
            <a:endParaRPr sz="1300"/>
          </a:p>
        </p:txBody>
      </p:sp>
      <p:sp>
        <p:nvSpPr>
          <p:cNvPr id="13" name="object 13"/>
          <p:cNvSpPr txBox="1"/>
          <p:nvPr/>
        </p:nvSpPr>
        <p:spPr>
          <a:xfrm>
            <a:off x="815082" y="1241456"/>
            <a:ext cx="33655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 b="1">
                <a:solidFill>
                  <a:srgbClr val="FFFFFF"/>
                </a:solidFill>
                <a:latin typeface="Segoe UI"/>
                <a:cs typeface="Segoe UI"/>
              </a:rPr>
              <a:t>Ölçü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33569" y="1241456"/>
            <a:ext cx="4438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FFFFFF"/>
                </a:solidFill>
                <a:latin typeface="Segoe UI"/>
                <a:cs typeface="Segoe UI"/>
              </a:rPr>
              <a:t>Sonuç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082" y="1603406"/>
            <a:ext cx="76898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Cevaplanan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99637" y="1603406"/>
            <a:ext cx="4775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33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/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39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181" y="1974881"/>
            <a:ext cx="9265920" cy="2023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100"/>
              </a:spcBef>
              <a:tabLst>
                <a:tab pos="8704580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Doğru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kaynağa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dayanan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22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/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39</a:t>
            </a:r>
            <a:endParaRPr sz="1150">
              <a:latin typeface="Segoe UI"/>
              <a:cs typeface="Segoe UI"/>
            </a:endParaRPr>
          </a:p>
          <a:p>
            <a:pPr marL="120014">
              <a:lnSpc>
                <a:spcPct val="100000"/>
              </a:lnSpc>
              <a:spcBef>
                <a:spcPts val="1470"/>
              </a:spcBef>
              <a:tabLst>
                <a:tab pos="8636000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Atıf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isabeti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5B6A79"/>
                </a:solidFill>
                <a:latin typeface="Segoe UI"/>
                <a:cs typeface="Segoe UI"/>
              </a:rPr>
              <a:t>(onarım</a:t>
            </a:r>
            <a:r>
              <a:rPr dirty="0" sz="115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5B6A79"/>
                </a:solidFill>
                <a:latin typeface="Segoe UI"/>
                <a:cs typeface="Segoe UI"/>
              </a:rPr>
              <a:t>öncesi</a:t>
            </a:r>
            <a:r>
              <a:rPr dirty="0" sz="1150" spc="-1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5B6A79"/>
                </a:solidFill>
                <a:latin typeface="Segoe UI"/>
                <a:cs typeface="Segoe UI"/>
              </a:rPr>
              <a:t>→</a:t>
            </a:r>
            <a:r>
              <a:rPr dirty="0" sz="115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150" spc="-10">
                <a:solidFill>
                  <a:srgbClr val="5B6A79"/>
                </a:solidFill>
                <a:latin typeface="Segoe UI"/>
                <a:cs typeface="Segoe UI"/>
              </a:rPr>
              <a:t>sonrası)</a:t>
            </a:r>
            <a:r>
              <a:rPr dirty="0" sz="1150">
                <a:solidFill>
                  <a:srgbClr val="5B6A79"/>
                </a:solidFill>
                <a:latin typeface="Segoe UI"/>
                <a:cs typeface="Segoe UI"/>
              </a:rPr>
              <a:t>	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28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→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31</a:t>
            </a: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Segoe UI"/>
              <a:cs typeface="Segoe UI"/>
            </a:endParaRPr>
          </a:p>
          <a:p>
            <a:pPr marL="120014">
              <a:lnSpc>
                <a:spcPct val="100000"/>
              </a:lnSpc>
              <a:tabLst>
                <a:tab pos="8879840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Cümlelerin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kaynağa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dayanma</a:t>
            </a:r>
            <a:r>
              <a:rPr dirty="0" sz="115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oranı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%94</a:t>
            </a: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Segoe UI"/>
              <a:cs typeface="Segoe UI"/>
            </a:endParaRPr>
          </a:p>
          <a:p>
            <a:pPr marL="120014">
              <a:lnSpc>
                <a:spcPct val="100000"/>
              </a:lnSpc>
              <a:tabLst>
                <a:tab pos="9077960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Haksız</a:t>
            </a:r>
            <a:r>
              <a:rPr dirty="0" sz="115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reddetme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50">
                <a:solidFill>
                  <a:srgbClr val="13202A"/>
                </a:solidFill>
                <a:latin typeface="Segoe UI"/>
                <a:cs typeface="Segoe UI"/>
              </a:rPr>
              <a:t>6</a:t>
            </a: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50">
              <a:latin typeface="Segoe UI"/>
              <a:cs typeface="Segoe UI"/>
            </a:endParaRPr>
          </a:p>
          <a:p>
            <a:pPr marL="12700" marR="1193800">
              <a:lnSpc>
                <a:spcPct val="129800"/>
              </a:lnSpc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Atıf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onarımı: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modelin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atıfsız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bıraktığı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cümleye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anlamsal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eşleşmeyle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kaynak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atanıyor;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hiçbir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parça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eşiği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geçmezse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cümle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atıfsız</a:t>
            </a:r>
            <a:r>
              <a:rPr dirty="0" sz="1300" spc="-3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bırakılıyor</a:t>
            </a:r>
            <a:r>
              <a:rPr dirty="0" sz="1300" spc="-3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uydurma</a:t>
            </a:r>
            <a:r>
              <a:rPr dirty="0" sz="13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kaynak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takmaktansa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dayanaksız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görünmesi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doğru.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3899" y="5676896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07181" y="5702783"/>
            <a:ext cx="64198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SONUÇLAR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Arşiv</a:t>
            </a:r>
            <a:r>
              <a:rPr dirty="0" spc="-20"/>
              <a:t> </a:t>
            </a:r>
            <a:r>
              <a:rPr dirty="0"/>
              <a:t>dışı</a:t>
            </a:r>
            <a:r>
              <a:rPr dirty="0" spc="-20"/>
              <a:t> </a:t>
            </a:r>
            <a:r>
              <a:rPr dirty="0"/>
              <a:t>soruda</a:t>
            </a:r>
            <a:r>
              <a:rPr dirty="0" spc="-15"/>
              <a:t> </a:t>
            </a:r>
            <a:r>
              <a:rPr dirty="0"/>
              <a:t>ne</a:t>
            </a:r>
            <a:r>
              <a:rPr dirty="0" spc="-20"/>
              <a:t> </a:t>
            </a:r>
            <a:r>
              <a:rPr dirty="0" spc="-10"/>
              <a:t>oluyor?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181" y="1117631"/>
            <a:ext cx="8295640" cy="2528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40"/>
              </a:lnSpc>
              <a:spcBef>
                <a:spcPts val="100"/>
              </a:spcBef>
              <a:tabLst>
                <a:tab pos="1746885" algn="l"/>
              </a:tabLst>
            </a:pPr>
            <a:r>
              <a:rPr dirty="0" sz="6400" spc="-25" b="1">
                <a:solidFill>
                  <a:srgbClr val="1F4E78"/>
                </a:solidFill>
                <a:latin typeface="Segoe UI"/>
                <a:cs typeface="Segoe UI"/>
              </a:rPr>
              <a:t>15</a:t>
            </a:r>
            <a:r>
              <a:rPr dirty="0" sz="6400" b="1">
                <a:solidFill>
                  <a:srgbClr val="1F4E78"/>
                </a:solidFill>
                <a:latin typeface="Segoe UI"/>
                <a:cs typeface="Segoe UI"/>
              </a:rPr>
              <a:t>	13</a:t>
            </a:r>
            <a:r>
              <a:rPr dirty="0" sz="6400" spc="-25" b="1">
                <a:solidFill>
                  <a:srgbClr val="1F4E78"/>
                </a:solidFill>
                <a:latin typeface="Segoe UI"/>
                <a:cs typeface="Segoe UI"/>
              </a:rPr>
              <a:t>  </a:t>
            </a:r>
            <a:r>
              <a:rPr dirty="0" sz="6400" spc="-50" b="1">
                <a:solidFill>
                  <a:srgbClr val="15803C"/>
                </a:solidFill>
                <a:latin typeface="Segoe UI"/>
                <a:cs typeface="Segoe UI"/>
              </a:rPr>
              <a:t>0</a:t>
            </a:r>
            <a:endParaRPr sz="6400">
              <a:latin typeface="Segoe UI"/>
              <a:cs typeface="Segoe UI"/>
            </a:endParaRPr>
          </a:p>
          <a:p>
            <a:pPr marL="12700">
              <a:lnSpc>
                <a:spcPts val="1400"/>
              </a:lnSpc>
              <a:tabLst>
                <a:tab pos="1746885" algn="l"/>
                <a:tab pos="3134995" algn="l"/>
              </a:tabLst>
            </a:pP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taze</a:t>
            </a:r>
            <a:r>
              <a:rPr dirty="0" sz="12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arşiv</a:t>
            </a:r>
            <a:r>
              <a:rPr dirty="0" sz="12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dışı</a:t>
            </a:r>
            <a:r>
              <a:rPr dirty="0" sz="1200" spc="-1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200" spc="-20">
                <a:solidFill>
                  <a:srgbClr val="5B6A79"/>
                </a:solidFill>
                <a:latin typeface="Segoe UI"/>
                <a:cs typeface="Segoe UI"/>
              </a:rPr>
              <a:t>soru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	</a:t>
            </a:r>
            <a:r>
              <a:rPr dirty="0" sz="1200" spc="-10">
                <a:solidFill>
                  <a:srgbClr val="5B6A79"/>
                </a:solidFill>
                <a:latin typeface="Segoe UI"/>
                <a:cs typeface="Segoe UI"/>
              </a:rPr>
              <a:t>reddedildi</a:t>
            </a:r>
            <a:r>
              <a:rPr dirty="0" sz="1200">
                <a:solidFill>
                  <a:srgbClr val="5B6A79"/>
                </a:solidFill>
                <a:latin typeface="Segoe UI"/>
                <a:cs typeface="Segoe UI"/>
              </a:rPr>
              <a:t>	</a:t>
            </a:r>
            <a:r>
              <a:rPr dirty="0" sz="1200" spc="-10">
                <a:solidFill>
                  <a:srgbClr val="5B6A79"/>
                </a:solidFill>
                <a:latin typeface="Segoe UI"/>
                <a:cs typeface="Segoe UI"/>
              </a:rPr>
              <a:t>uydurma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29800"/>
              </a:lnSpc>
              <a:spcBef>
                <a:spcPts val="1445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Sorular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bilerek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zor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seçildi: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miyelom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dışı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hematoloji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akut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lösemi,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55">
                <a:solidFill>
                  <a:srgbClr val="13202A"/>
                </a:solidFill>
                <a:latin typeface="Segoe UI"/>
                <a:cs typeface="Segoe UI"/>
              </a:rPr>
              <a:t>ITP,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Hodgkin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lenfoma,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hemofili,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talasemi.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Arşivin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diliyle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aynı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kelime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dünyasını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paylaşıyorlar.</a:t>
            </a:r>
            <a:endParaRPr sz="1300">
              <a:latin typeface="Segoe UI"/>
              <a:cs typeface="Segoe UI"/>
            </a:endParaRPr>
          </a:p>
          <a:p>
            <a:pPr marL="12700" marR="1006475">
              <a:lnSpc>
                <a:spcPct val="129800"/>
              </a:lnSpc>
              <a:spcBef>
                <a:spcPts val="1125"/>
              </a:spcBef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Cevaplanan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iki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soru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doğru</a:t>
            </a:r>
            <a:r>
              <a:rPr dirty="0" sz="1300" spc="-3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çıktı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: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konuları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gerçekten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arşivdeydi.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45">
                <a:solidFill>
                  <a:srgbClr val="13202A"/>
                </a:solidFill>
                <a:latin typeface="Segoe UI"/>
                <a:cs typeface="Segoe UI"/>
              </a:rPr>
              <a:t>Tam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ürün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bilgisi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belgeleri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ilacın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bütün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endikasyonlarını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taşıyor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soru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yanlış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etiketlenmişti,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sistem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doğru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davrandı.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899" y="5676896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181" y="5702783"/>
            <a:ext cx="62611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REDDETME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6"/>
            <a:ext cx="9248775" cy="1409700"/>
            <a:chOff x="723899" y="1162046"/>
            <a:chExt cx="9248775" cy="1409700"/>
          </a:xfrm>
        </p:grpSpPr>
        <p:sp>
          <p:nvSpPr>
            <p:cNvPr id="3" name="object 3"/>
            <p:cNvSpPr/>
            <p:nvPr/>
          </p:nvSpPr>
          <p:spPr>
            <a:xfrm>
              <a:off x="723899" y="1162046"/>
              <a:ext cx="9248775" cy="1409700"/>
            </a:xfrm>
            <a:custGeom>
              <a:avLst/>
              <a:gdLst/>
              <a:ahLst/>
              <a:cxnLst/>
              <a:rect l="l" t="t" r="r" b="b"/>
              <a:pathLst>
                <a:path w="9248775" h="1409700">
                  <a:moveTo>
                    <a:pt x="9248774" y="1409699"/>
                  </a:moveTo>
                  <a:lnTo>
                    <a:pt x="0" y="14096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1409699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1162046"/>
              <a:ext cx="47625" cy="1409700"/>
            </a:xfrm>
            <a:custGeom>
              <a:avLst/>
              <a:gdLst/>
              <a:ahLst/>
              <a:cxnLst/>
              <a:rect l="l" t="t" r="r" b="b"/>
              <a:pathLst>
                <a:path w="47625" h="1409700">
                  <a:moveTo>
                    <a:pt x="47624" y="1409699"/>
                  </a:moveTo>
                  <a:lnTo>
                    <a:pt x="0" y="14096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1409699"/>
                  </a:lnTo>
                  <a:close/>
                </a:path>
              </a:pathLst>
            </a:custGeom>
            <a:solidFill>
              <a:srgbClr val="9A1B1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23899" y="4295771"/>
            <a:ext cx="9248775" cy="866775"/>
            <a:chOff x="723899" y="4295771"/>
            <a:chExt cx="9248775" cy="866775"/>
          </a:xfrm>
        </p:grpSpPr>
        <p:sp>
          <p:nvSpPr>
            <p:cNvPr id="6" name="object 6"/>
            <p:cNvSpPr/>
            <p:nvPr/>
          </p:nvSpPr>
          <p:spPr>
            <a:xfrm>
              <a:off x="723899" y="4295771"/>
              <a:ext cx="9248775" cy="866775"/>
            </a:xfrm>
            <a:custGeom>
              <a:avLst/>
              <a:gdLst/>
              <a:ahLst/>
              <a:cxnLst/>
              <a:rect l="l" t="t" r="r" b="b"/>
              <a:pathLst>
                <a:path w="9248775" h="866775">
                  <a:moveTo>
                    <a:pt x="9248774" y="866774"/>
                  </a:moveTo>
                  <a:lnTo>
                    <a:pt x="0" y="866774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866774"/>
                  </a:lnTo>
                  <a:close/>
                </a:path>
              </a:pathLst>
            </a:custGeom>
            <a:solidFill>
              <a:srgbClr val="F1F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23899" y="4295771"/>
              <a:ext cx="47625" cy="866775"/>
            </a:xfrm>
            <a:custGeom>
              <a:avLst/>
              <a:gdLst/>
              <a:ahLst/>
              <a:cxnLst/>
              <a:rect l="l" t="t" r="r" b="b"/>
              <a:pathLst>
                <a:path w="47625" h="866775">
                  <a:moveTo>
                    <a:pt x="47624" y="866774"/>
                  </a:moveTo>
                  <a:lnTo>
                    <a:pt x="0" y="866774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866774"/>
                  </a:lnTo>
                  <a:close/>
                </a:path>
              </a:pathLst>
            </a:custGeom>
            <a:solidFill>
              <a:srgbClr val="1580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</a:t>
            </a:r>
            <a:r>
              <a:rPr dirty="0" spc="-20"/>
              <a:t> </a:t>
            </a:r>
            <a:r>
              <a:rPr dirty="0"/>
              <a:t>önemli</a:t>
            </a:r>
            <a:r>
              <a:rPr dirty="0" spc="-20"/>
              <a:t> bulgu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7181" y="1365281"/>
            <a:ext cx="9265920" cy="360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Arşiv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dışı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15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sorunun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b="1">
                <a:solidFill>
                  <a:srgbClr val="13202A"/>
                </a:solidFill>
                <a:latin typeface="Segoe UI"/>
                <a:cs typeface="Segoe UI"/>
              </a:rPr>
              <a:t>15'i</a:t>
            </a:r>
            <a:r>
              <a:rPr dirty="0" sz="1600" spc="-2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b="1">
                <a:solidFill>
                  <a:srgbClr val="13202A"/>
                </a:solidFill>
                <a:latin typeface="Segoe UI"/>
                <a:cs typeface="Segoe UI"/>
              </a:rPr>
              <a:t>de</a:t>
            </a:r>
            <a:r>
              <a:rPr dirty="0" sz="1600" spc="-2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benzerlik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skoru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kapısını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geçti.</a:t>
            </a:r>
            <a:endParaRPr sz="1600">
              <a:latin typeface="Segoe UI"/>
              <a:cs typeface="Segoe UI"/>
            </a:endParaRPr>
          </a:p>
          <a:p>
            <a:pPr marL="276225">
              <a:lnSpc>
                <a:spcPct val="100000"/>
              </a:lnSpc>
              <a:spcBef>
                <a:spcPts val="1705"/>
              </a:spcBef>
            </a:pP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Arşiv</a:t>
            </a:r>
            <a:r>
              <a:rPr dirty="0" sz="15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dışı</a:t>
            </a:r>
            <a:r>
              <a:rPr dirty="0" sz="15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skorlar:</a:t>
            </a:r>
            <a:r>
              <a:rPr dirty="0" sz="15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0,53</a:t>
            </a:r>
            <a:r>
              <a:rPr dirty="0" sz="1500" spc="-1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–</a:t>
            </a:r>
            <a:r>
              <a:rPr dirty="0" sz="1500" spc="-1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spc="-20" b="1">
                <a:solidFill>
                  <a:srgbClr val="13202A"/>
                </a:solidFill>
                <a:latin typeface="Segoe UI"/>
                <a:cs typeface="Segoe UI"/>
              </a:rPr>
              <a:t>0,72</a:t>
            </a:r>
            <a:endParaRPr sz="1500">
              <a:latin typeface="Segoe UI"/>
              <a:cs typeface="Segoe UI"/>
            </a:endParaRPr>
          </a:p>
          <a:p>
            <a:pPr marL="276225">
              <a:lnSpc>
                <a:spcPct val="100000"/>
              </a:lnSpc>
              <a:spcBef>
                <a:spcPts val="525"/>
              </a:spcBef>
            </a:pP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Geçerli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soru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skorları:</a:t>
            </a:r>
            <a:r>
              <a:rPr dirty="0" sz="15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0,63</a:t>
            </a:r>
            <a:r>
              <a:rPr dirty="0" sz="1500" spc="-3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–</a:t>
            </a:r>
            <a:r>
              <a:rPr dirty="0" sz="1500" spc="-3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spc="-20" b="1">
                <a:solidFill>
                  <a:srgbClr val="13202A"/>
                </a:solidFill>
                <a:latin typeface="Segoe UI"/>
                <a:cs typeface="Segoe UI"/>
              </a:rPr>
              <a:t>0,72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500">
              <a:latin typeface="Segoe UI"/>
              <a:cs typeface="Segoe UI"/>
            </a:endParaRPr>
          </a:p>
          <a:p>
            <a:pPr marL="12700" marR="1790700">
              <a:lnSpc>
                <a:spcPct val="125000"/>
              </a:lnSpc>
              <a:spcBef>
                <a:spcPts val="5"/>
              </a:spcBef>
            </a:pP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Bandlar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tamamen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iç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içe.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Eşiği</a:t>
            </a:r>
            <a:r>
              <a:rPr dirty="0" sz="1600" spc="-1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yükseltmek</a:t>
            </a:r>
            <a:r>
              <a:rPr dirty="0" sz="1600" spc="-1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çözüm</a:t>
            </a:r>
            <a:r>
              <a:rPr dirty="0" sz="1600" spc="-1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değil</a:t>
            </a:r>
            <a:r>
              <a:rPr dirty="0" sz="1600" spc="-1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geçerli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soruları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 elemeden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geçersizleri</a:t>
            </a:r>
            <a:r>
              <a:rPr dirty="0" sz="16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eleyecek</a:t>
            </a:r>
            <a:r>
              <a:rPr dirty="0" sz="16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eşik</a:t>
            </a:r>
            <a:r>
              <a:rPr dirty="0" sz="16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yok.</a:t>
            </a:r>
            <a:endParaRPr sz="1600">
              <a:latin typeface="Segoe UI"/>
              <a:cs typeface="Segoe UI"/>
            </a:endParaRPr>
          </a:p>
          <a:p>
            <a:pPr marL="12700" marR="984885">
              <a:lnSpc>
                <a:spcPct val="125000"/>
              </a:lnSpc>
              <a:spcBef>
                <a:spcPts val="1125"/>
              </a:spcBef>
            </a:pP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Gömme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modeli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"bu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soru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tıbbi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metne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benziyor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mu"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diye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ölçüyor,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"bu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arşivin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konusu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mu"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diye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değil.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600">
              <a:latin typeface="Segoe UI"/>
              <a:cs typeface="Segoe UI"/>
            </a:endParaRPr>
          </a:p>
          <a:p>
            <a:pPr marL="276225" marR="603885">
              <a:lnSpc>
                <a:spcPct val="129800"/>
              </a:lnSpc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Reddetmeyi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sağlayan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şey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skor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değil,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arşivin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metadata</a:t>
            </a:r>
            <a:r>
              <a:rPr dirty="0" sz="1300" spc="-3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yapısı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oldu.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Bölümlemede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etiketlere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harcanan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emek,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güvenlik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özelliğine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buradan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dönüştü.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899" y="5676895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07181" y="5702783"/>
            <a:ext cx="39687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BULGU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23899" y="1162046"/>
          <a:ext cx="9324975" cy="2192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810"/>
                <a:gridCol w="2132965"/>
                <a:gridCol w="1168400"/>
                <a:gridCol w="1447800"/>
                <a:gridCol w="1013459"/>
                <a:gridCol w="941070"/>
              </a:tblGrid>
              <a:tr h="36131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Cevaplanan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19734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Hedef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Haksız</a:t>
                      </a: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red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Kanıt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Süre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solidFill>
                      <a:srgbClr val="1F4E7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Meta-Llama-3.1-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8B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32/39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19734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22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1,00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15,4</a:t>
                      </a:r>
                      <a:r>
                        <a:rPr dirty="0" sz="1150" spc="-3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Qwen2.5-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14B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32/39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9734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22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0,93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18,5</a:t>
                      </a:r>
                      <a:r>
                        <a:rPr dirty="0" sz="1150" spc="-3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1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Qwen2.5-</a:t>
                      </a: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7B</a:t>
                      </a:r>
                      <a:r>
                        <a:rPr dirty="0" sz="1150" spc="1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>
                          <a:solidFill>
                            <a:srgbClr val="1F4E78"/>
                          </a:solidFill>
                          <a:latin typeface="Segoe UI Semibold"/>
                          <a:cs typeface="Segoe UI Semibold"/>
                        </a:rPr>
                        <a:t>(seçilen)</a:t>
                      </a:r>
                      <a:endParaRPr sz="1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31/39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1973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21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0,93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11,1</a:t>
                      </a:r>
                      <a:r>
                        <a:rPr dirty="0" sz="1150" spc="-30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Turkish-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Llama-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8B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32/39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973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22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0,97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34,8</a:t>
                      </a:r>
                      <a:r>
                        <a:rPr dirty="0" sz="1150" spc="-3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6520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Qwen3.6-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27B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26/39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19734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21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978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13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036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0,68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33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38,3</a:t>
                      </a:r>
                      <a:r>
                        <a:rPr dirty="0" sz="1150" spc="-3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6045">
                    <a:lnT w="9525">
                      <a:solidFill>
                        <a:srgbClr val="DDE3E8"/>
                      </a:solidFill>
                      <a:prstDash val="solid"/>
                    </a:lnT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Beş</a:t>
            </a:r>
            <a:r>
              <a:rPr dirty="0" spc="-30"/>
              <a:t> </a:t>
            </a:r>
            <a:r>
              <a:rPr dirty="0"/>
              <a:t>dil</a:t>
            </a:r>
            <a:r>
              <a:rPr dirty="0" spc="-25"/>
              <a:t> </a:t>
            </a:r>
            <a:r>
              <a:rPr dirty="0"/>
              <a:t>modeli,</a:t>
            </a:r>
            <a:r>
              <a:rPr dirty="0" spc="-25"/>
              <a:t> </a:t>
            </a:r>
            <a:r>
              <a:rPr dirty="0"/>
              <a:t>aynı</a:t>
            </a:r>
            <a:r>
              <a:rPr dirty="0" spc="-25"/>
              <a:t> </a:t>
            </a:r>
            <a:r>
              <a:rPr dirty="0" spc="-10"/>
              <a:t>koşullar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81" y="3458838"/>
            <a:ext cx="8471535" cy="1196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0365">
              <a:lnSpc>
                <a:spcPct val="129800"/>
              </a:lnSpc>
              <a:spcBef>
                <a:spcPts val="100"/>
              </a:spcBef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Hepsi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aynı</a:t>
            </a:r>
            <a:r>
              <a:rPr dirty="0" sz="13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bantta.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39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soruda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soruluk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fark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gürültüdür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bu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kümede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model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seçimi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doğruluk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farkı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yaratmıyor.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Seçim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hız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ve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donanım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için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yapıldı.</a:t>
            </a:r>
            <a:endParaRPr sz="1300">
              <a:latin typeface="Segoe UI"/>
              <a:cs typeface="Segoe UI"/>
            </a:endParaRPr>
          </a:p>
          <a:p>
            <a:pPr marL="12700" marR="5080">
              <a:lnSpc>
                <a:spcPct val="129800"/>
              </a:lnSpc>
              <a:spcBef>
                <a:spcPts val="1125"/>
              </a:spcBef>
            </a:pP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En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büyük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model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en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çok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haksız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reddetmeyi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yapıyor: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kaynağı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kendi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cümlesiyle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yeniden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yazıyor,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anlamsal</a:t>
            </a:r>
            <a:r>
              <a:rPr dirty="0" sz="1300" spc="-25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bağ</a:t>
            </a:r>
            <a:r>
              <a:rPr dirty="0" sz="1300" spc="-3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zayıflıyor, </a:t>
            </a:r>
            <a:r>
              <a:rPr dirty="0" sz="1300">
                <a:solidFill>
                  <a:srgbClr val="5B6A79"/>
                </a:solidFill>
                <a:latin typeface="Segoe UI"/>
                <a:cs typeface="Segoe UI"/>
              </a:rPr>
              <a:t>kapı</a:t>
            </a:r>
            <a:r>
              <a:rPr dirty="0" sz="1300" spc="-20">
                <a:solidFill>
                  <a:srgbClr val="5B6A79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5B6A79"/>
                </a:solidFill>
                <a:latin typeface="Segoe UI"/>
                <a:cs typeface="Segoe UI"/>
              </a:rPr>
              <a:t>kapatıyor.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3899" y="5676895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07181" y="5702783"/>
            <a:ext cx="62166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MODELLER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23899" y="1604958"/>
          <a:ext cx="9324975" cy="71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0129"/>
                <a:gridCol w="3021964"/>
                <a:gridCol w="2646679"/>
              </a:tblGrid>
              <a:tr h="36131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Ortam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160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12369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Dil</a:t>
                      </a:r>
                      <a:r>
                        <a:rPr dirty="0" sz="1150" spc="-15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modeli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1600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Cevap</a:t>
                      </a:r>
                      <a:r>
                        <a:rPr dirty="0" sz="1150" spc="-45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süresi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101600">
                    <a:solidFill>
                      <a:srgbClr val="1F4E7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Sunum</a:t>
                      </a:r>
                      <a:r>
                        <a:rPr dirty="0" sz="1150" spc="-1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dizüstü,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r>
                        <a:rPr dirty="0" sz="1150" spc="-1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GB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ekran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kartı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123698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Ollama,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yarı</a:t>
                      </a:r>
                      <a:r>
                        <a:rPr dirty="0" sz="1150" spc="-2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GPU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60–</a:t>
                      </a:r>
                      <a:r>
                        <a:rPr dirty="0" sz="115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380</a:t>
                      </a:r>
                      <a:r>
                        <a:rPr dirty="0" sz="1150" spc="-10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150" spc="-25">
                          <a:solidFill>
                            <a:srgbClr val="13202A"/>
                          </a:solidFill>
                          <a:latin typeface="Segoe UI"/>
                          <a:cs typeface="Segoe UI"/>
                        </a:rPr>
                        <a:t>sn</a:t>
                      </a:r>
                      <a:endParaRPr sz="1150">
                        <a:latin typeface="Segoe UI"/>
                        <a:cs typeface="Segoe UI"/>
                      </a:endParaRPr>
                    </a:p>
                  </a:txBody>
                  <a:tcPr marL="0" marR="0" marB="0" marT="92075">
                    <a:lnB w="9525">
                      <a:solidFill>
                        <a:srgbClr val="DDE3E8"/>
                      </a:solidFill>
                      <a:prstDash val="soli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723887" y="269557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5" y="0"/>
                </a:moveTo>
                <a:lnTo>
                  <a:pt x="7200900" y="0"/>
                </a:lnTo>
                <a:lnTo>
                  <a:pt x="4705350" y="0"/>
                </a:lnTo>
                <a:lnTo>
                  <a:pt x="0" y="0"/>
                </a:lnTo>
                <a:lnTo>
                  <a:pt x="0" y="9525"/>
                </a:lnTo>
                <a:lnTo>
                  <a:pt x="4705350" y="9525"/>
                </a:lnTo>
                <a:lnTo>
                  <a:pt x="7200900" y="9525"/>
                </a:lnTo>
                <a:lnTo>
                  <a:pt x="9248775" y="9525"/>
                </a:lnTo>
                <a:lnTo>
                  <a:pt x="9248775" y="0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Teslim:</a:t>
            </a:r>
            <a:r>
              <a:rPr dirty="0" spc="-85"/>
              <a:t> </a:t>
            </a:r>
            <a:r>
              <a:rPr dirty="0"/>
              <a:t>web</a:t>
            </a:r>
            <a:r>
              <a:rPr dirty="0" spc="-80"/>
              <a:t> </a:t>
            </a:r>
            <a:r>
              <a:rPr dirty="0" spc="-10"/>
              <a:t>katmanı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181" y="1174781"/>
            <a:ext cx="60464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FastAPI</a:t>
            </a:r>
            <a:r>
              <a:rPr dirty="0" sz="16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+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React.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Aynı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kod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iki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ortamda;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fark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yalnızca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yapılandırmada.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181" y="2422556"/>
            <a:ext cx="8349615" cy="131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100"/>
              </a:spcBef>
              <a:tabLst>
                <a:tab pos="4834255" algn="l"/>
                <a:tab pos="7322820" algn="l"/>
              </a:tabLst>
            </a:pP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Üretim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kurum</a:t>
            </a:r>
            <a:r>
              <a:rPr dirty="0" sz="115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sunucusu,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GPU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4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bit</a:t>
            </a:r>
            <a:r>
              <a:rPr dirty="0" sz="1150" spc="-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yükleme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	</a:t>
            </a:r>
            <a:r>
              <a:rPr dirty="0" sz="1150" spc="-10">
                <a:solidFill>
                  <a:srgbClr val="13202A"/>
                </a:solidFill>
                <a:latin typeface="Segoe UI"/>
                <a:cs typeface="Segoe UI"/>
              </a:rPr>
              <a:t>10–</a:t>
            </a:r>
            <a:r>
              <a:rPr dirty="0" sz="1150">
                <a:solidFill>
                  <a:srgbClr val="13202A"/>
                </a:solidFill>
                <a:latin typeface="Segoe UI"/>
                <a:cs typeface="Segoe UI"/>
              </a:rPr>
              <a:t>30 </a:t>
            </a:r>
            <a:r>
              <a:rPr dirty="0" sz="1150" spc="-25">
                <a:solidFill>
                  <a:srgbClr val="13202A"/>
                </a:solidFill>
                <a:latin typeface="Segoe UI"/>
                <a:cs typeface="Segoe UI"/>
              </a:rPr>
              <a:t>sn</a:t>
            </a:r>
            <a:endParaRPr sz="1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50">
              <a:latin typeface="Segoe UI"/>
              <a:cs typeface="Segoe UI"/>
            </a:endParaRPr>
          </a:p>
          <a:p>
            <a:pPr marL="12700" marR="5080">
              <a:lnSpc>
                <a:spcPct val="129800"/>
              </a:lnSpc>
            </a:pP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Arayüz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sistemin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iç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durumunu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gizlemiyor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: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atıflar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tıklanınca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kaynağın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tam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metni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açılıyor,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bağlama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girip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kullanılmayan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kaynaklar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da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listeleniyor,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reddetmede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hangi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kapının</a:t>
            </a:r>
            <a:r>
              <a:rPr dirty="0" sz="13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kapattığı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yazıyor.</a:t>
            </a:r>
            <a:endParaRPr sz="13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Arşiv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dışı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soruda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reddetme</a:t>
            </a:r>
            <a:r>
              <a:rPr dirty="0" sz="13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~1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saniye</a:t>
            </a:r>
            <a:r>
              <a:rPr dirty="0" sz="13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alan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kapısı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devredeyken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dil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modeli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hiç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çağrılmıyor.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3899" y="5676895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7181" y="5702783"/>
            <a:ext cx="416559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TESLİM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899" y="1162045"/>
            <a:ext cx="9248775" cy="952500"/>
            <a:chOff x="723899" y="1162045"/>
            <a:chExt cx="9248775" cy="952500"/>
          </a:xfrm>
        </p:grpSpPr>
        <p:sp>
          <p:nvSpPr>
            <p:cNvPr id="3" name="object 3"/>
            <p:cNvSpPr/>
            <p:nvPr/>
          </p:nvSpPr>
          <p:spPr>
            <a:xfrm>
              <a:off x="723899" y="1162045"/>
              <a:ext cx="9248775" cy="952500"/>
            </a:xfrm>
            <a:custGeom>
              <a:avLst/>
              <a:gdLst/>
              <a:ahLst/>
              <a:cxnLst/>
              <a:rect l="l" t="t" r="r" b="b"/>
              <a:pathLst>
                <a:path w="9248775" h="952500">
                  <a:moveTo>
                    <a:pt x="924877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9248774" y="0"/>
                  </a:lnTo>
                  <a:lnTo>
                    <a:pt x="9248774" y="952499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23899" y="1162045"/>
              <a:ext cx="47625" cy="952500"/>
            </a:xfrm>
            <a:custGeom>
              <a:avLst/>
              <a:gdLst/>
              <a:ahLst/>
              <a:cxnLst/>
              <a:rect l="l" t="t" r="r" b="b"/>
              <a:pathLst>
                <a:path w="47625" h="952500">
                  <a:moveTo>
                    <a:pt x="4762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952499"/>
                  </a:lnTo>
                  <a:close/>
                </a:path>
              </a:pathLst>
            </a:custGeom>
            <a:solidFill>
              <a:srgbClr val="9A1B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Bilinen</a:t>
            </a:r>
            <a:r>
              <a:rPr dirty="0" spc="-20"/>
              <a:t> </a:t>
            </a:r>
            <a:r>
              <a:rPr dirty="0" spc="-10"/>
              <a:t>eksikler</a:t>
            </a:r>
          </a:p>
        </p:txBody>
      </p:sp>
      <p:sp>
        <p:nvSpPr>
          <p:cNvPr id="6" name="object 6"/>
          <p:cNvSpPr/>
          <p:nvPr/>
        </p:nvSpPr>
        <p:spPr>
          <a:xfrm>
            <a:off x="790574" y="240982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0"/>
                </a:moveTo>
                <a:lnTo>
                  <a:pt x="24785" y="57140"/>
                </a:lnTo>
                <a:lnTo>
                  <a:pt x="21140" y="56415"/>
                </a:lnTo>
                <a:lnTo>
                  <a:pt x="0" y="32351"/>
                </a:lnTo>
                <a:lnTo>
                  <a:pt x="0" y="24780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51"/>
                </a:lnTo>
                <a:lnTo>
                  <a:pt x="32364" y="57140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0574" y="27622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0"/>
                </a:moveTo>
                <a:lnTo>
                  <a:pt x="24785" y="57140"/>
                </a:lnTo>
                <a:lnTo>
                  <a:pt x="21140" y="56415"/>
                </a:lnTo>
                <a:lnTo>
                  <a:pt x="0" y="32351"/>
                </a:lnTo>
                <a:lnTo>
                  <a:pt x="0" y="24780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51"/>
                </a:lnTo>
                <a:lnTo>
                  <a:pt x="32364" y="57140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0574" y="311467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0"/>
                </a:moveTo>
                <a:lnTo>
                  <a:pt x="24785" y="57140"/>
                </a:lnTo>
                <a:lnTo>
                  <a:pt x="21140" y="56415"/>
                </a:lnTo>
                <a:lnTo>
                  <a:pt x="0" y="32351"/>
                </a:lnTo>
                <a:lnTo>
                  <a:pt x="0" y="24780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51"/>
                </a:lnTo>
                <a:lnTo>
                  <a:pt x="32364" y="57140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0574" y="34670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0"/>
                </a:moveTo>
                <a:lnTo>
                  <a:pt x="24785" y="57140"/>
                </a:lnTo>
                <a:lnTo>
                  <a:pt x="21140" y="56406"/>
                </a:lnTo>
                <a:lnTo>
                  <a:pt x="0" y="32351"/>
                </a:lnTo>
                <a:lnTo>
                  <a:pt x="0" y="24770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51"/>
                </a:lnTo>
                <a:lnTo>
                  <a:pt x="32364" y="57140"/>
                </a:lnTo>
                <a:close/>
              </a:path>
            </a:pathLst>
          </a:custGeom>
          <a:solidFill>
            <a:srgbClr val="1320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71524" y="1301750"/>
            <a:ext cx="9201150" cy="2296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1454" marR="662940">
              <a:lnSpc>
                <a:spcPct val="129200"/>
              </a:lnSpc>
              <a:spcBef>
                <a:spcPts val="100"/>
              </a:spcBef>
            </a:pP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Klinik</a:t>
            </a:r>
            <a:r>
              <a:rPr dirty="0" sz="1500" spc="-3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doğrulama</a:t>
            </a:r>
            <a:r>
              <a:rPr dirty="0" sz="1500" spc="-30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b="1">
                <a:solidFill>
                  <a:srgbClr val="13202A"/>
                </a:solidFill>
                <a:latin typeface="Segoe UI"/>
                <a:cs typeface="Segoe UI"/>
              </a:rPr>
              <a:t>yapılmadı.</a:t>
            </a:r>
            <a:r>
              <a:rPr dirty="0" sz="1500" spc="-35" b="1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Ölçülen</a:t>
            </a:r>
            <a:r>
              <a:rPr dirty="0" sz="15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şey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kaynağa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dayanma</a:t>
            </a:r>
            <a:r>
              <a:rPr dirty="0" sz="15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ve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atıf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isabeti</a:t>
            </a:r>
            <a:r>
              <a:rPr dirty="0" sz="15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klinik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doğruluk</a:t>
            </a:r>
            <a:r>
              <a:rPr dirty="0" sz="15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13202A"/>
                </a:solidFill>
                <a:latin typeface="Segoe UI"/>
                <a:cs typeface="Segoe UI"/>
              </a:rPr>
              <a:t>değil.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Bir</a:t>
            </a:r>
            <a:r>
              <a:rPr dirty="0" sz="1500" spc="-5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hematolog</a:t>
            </a:r>
            <a:r>
              <a:rPr dirty="0" sz="1500" spc="-5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cevapları</a:t>
            </a:r>
            <a:r>
              <a:rPr dirty="0" sz="1500" spc="-4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13202A"/>
                </a:solidFill>
                <a:latin typeface="Segoe UI"/>
                <a:cs typeface="Segoe UI"/>
              </a:rPr>
              <a:t>gözden</a:t>
            </a:r>
            <a:r>
              <a:rPr dirty="0" sz="1500" spc="-5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13202A"/>
                </a:solidFill>
                <a:latin typeface="Segoe UI"/>
                <a:cs typeface="Segoe UI"/>
              </a:rPr>
              <a:t>geçirmedi.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500">
              <a:latin typeface="Segoe UI"/>
              <a:cs typeface="Segoe UI"/>
            </a:endParaRPr>
          </a:p>
          <a:p>
            <a:pPr marL="200025">
              <a:lnSpc>
                <a:spcPct val="100000"/>
              </a:lnSpc>
              <a:spcBef>
                <a:spcPts val="5"/>
              </a:spcBef>
            </a:pPr>
            <a:r>
              <a:rPr dirty="0" sz="1300" spc="-20">
                <a:solidFill>
                  <a:srgbClr val="1F4E78"/>
                </a:solidFill>
                <a:latin typeface="Segoe UI Semibold"/>
                <a:cs typeface="Segoe UI Semibold"/>
              </a:rPr>
              <a:t>Türkçe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karakter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duyarlılığı: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şapkasız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yazım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alan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kapısını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aşabiliyor</a:t>
            </a:r>
            <a:endParaRPr sz="1300">
              <a:latin typeface="Segoe UI"/>
              <a:cs typeface="Segoe UI"/>
            </a:endParaRPr>
          </a:p>
          <a:p>
            <a:pPr marL="200025">
              <a:lnSpc>
                <a:spcPct val="100000"/>
              </a:lnSpc>
              <a:spcBef>
                <a:spcPts val="1215"/>
              </a:spcBef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Geri</a:t>
            </a:r>
            <a:r>
              <a:rPr dirty="0" sz="13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ödeme</a:t>
            </a:r>
            <a:r>
              <a:rPr dirty="0" sz="1300" spc="-2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tabloları</a:t>
            </a:r>
            <a:r>
              <a:rPr dirty="0" sz="1300" spc="-1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yapılandırılmış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veri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olarak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eklenmedi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(8.334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+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22.965</a:t>
            </a:r>
            <a:r>
              <a:rPr dirty="0" sz="13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satır)</a:t>
            </a:r>
            <a:endParaRPr sz="1300">
              <a:latin typeface="Segoe UI"/>
              <a:cs typeface="Segoe UI"/>
            </a:endParaRPr>
          </a:p>
          <a:p>
            <a:pPr marL="200025" marR="4232910">
              <a:lnSpc>
                <a:spcPct val="177900"/>
              </a:lnSpc>
            </a:pP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Kimlik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doğrulama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F4E78"/>
                </a:solidFill>
                <a:latin typeface="Segoe UI Semibold"/>
                <a:cs typeface="Segoe UI Semibold"/>
              </a:rPr>
              <a:t>yok</a:t>
            </a:r>
            <a:r>
              <a:rPr dirty="0" sz="13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dışarıya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açılırken</a:t>
            </a:r>
            <a:r>
              <a:rPr dirty="0" sz="13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kurum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katmanı</a:t>
            </a:r>
            <a:r>
              <a:rPr dirty="0" sz="13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gerekli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Dört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belge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taranmış</a:t>
            </a:r>
            <a:r>
              <a:rPr dirty="0" sz="13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görüntü,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300">
                <a:solidFill>
                  <a:srgbClr val="13202A"/>
                </a:solidFill>
                <a:latin typeface="Segoe UI"/>
                <a:cs typeface="Segoe UI"/>
              </a:rPr>
              <a:t>OCR</a:t>
            </a:r>
            <a:r>
              <a:rPr dirty="0" sz="1300" spc="-10">
                <a:solidFill>
                  <a:srgbClr val="13202A"/>
                </a:solidFill>
                <a:latin typeface="Segoe UI"/>
                <a:cs typeface="Segoe UI"/>
              </a:rPr>
              <a:t> bekliyor</a:t>
            </a:r>
            <a:endParaRPr sz="13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3899" y="5676895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7181" y="5702783"/>
            <a:ext cx="522605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EKSİKLER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Yol</a:t>
            </a:r>
            <a:r>
              <a:rPr dirty="0" spc="-100"/>
              <a:t> </a:t>
            </a:r>
            <a:r>
              <a:rPr dirty="0" spc="-10"/>
              <a:t>haritası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181" y="1113783"/>
            <a:ext cx="8018145" cy="213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600" spc="-20">
                <a:solidFill>
                  <a:srgbClr val="1F4E78"/>
                </a:solidFill>
                <a:latin typeface="Segoe UI Semibold"/>
                <a:cs typeface="Segoe UI Semibold"/>
              </a:rPr>
              <a:t>Yakın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vade.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Hematolog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doğrulaması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—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bu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yapılmadan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sistem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"doğrulanmış"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sayılmamalı. 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Türkçe</a:t>
            </a:r>
            <a:r>
              <a:rPr dirty="0" sz="1600" spc="-5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karakter</a:t>
            </a:r>
            <a:r>
              <a:rPr dirty="0" sz="1600" spc="-5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açığının</a:t>
            </a:r>
            <a:r>
              <a:rPr dirty="0" sz="1600" spc="-5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kapatılması.</a:t>
            </a:r>
            <a:endParaRPr sz="1600">
              <a:latin typeface="Segoe UI"/>
              <a:cs typeface="Segoe UI"/>
            </a:endParaRPr>
          </a:p>
          <a:p>
            <a:pPr marL="12700" marR="52069">
              <a:lnSpc>
                <a:spcPct val="125000"/>
              </a:lnSpc>
              <a:spcBef>
                <a:spcPts val="1125"/>
              </a:spcBef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Orta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vade.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Geri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ödeme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tablolarının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kesin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sorgu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dalı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olarak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eklenmesi,</a:t>
            </a:r>
            <a:r>
              <a:rPr dirty="0" sz="1600" spc="-3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taranmış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belgelerin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OCR'ı,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kimlik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doğrulama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ve</a:t>
            </a:r>
            <a:r>
              <a:rPr dirty="0" sz="1600" spc="-2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kullanım</a:t>
            </a:r>
            <a:r>
              <a:rPr dirty="0" sz="1600" spc="-1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kaydı.</a:t>
            </a:r>
            <a:endParaRPr sz="1600">
              <a:latin typeface="Segoe UI"/>
              <a:cs typeface="Segoe UI"/>
            </a:endParaRPr>
          </a:p>
          <a:p>
            <a:pPr marL="12700" marR="614045">
              <a:lnSpc>
                <a:spcPct val="125000"/>
              </a:lnSpc>
              <a:spcBef>
                <a:spcPts val="1125"/>
              </a:spcBef>
            </a:pP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Uzun</a:t>
            </a:r>
            <a:r>
              <a:rPr dirty="0" sz="1600" spc="-30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F4E78"/>
                </a:solidFill>
                <a:latin typeface="Segoe UI Semibold"/>
                <a:cs typeface="Segoe UI Semibold"/>
              </a:rPr>
              <a:t>vade.</a:t>
            </a:r>
            <a:r>
              <a:rPr dirty="0" sz="1600" spc="-25">
                <a:solidFill>
                  <a:srgbClr val="1F4E78"/>
                </a:solidFill>
                <a:latin typeface="Segoe UI Semibold"/>
                <a:cs typeface="Segoe UI Semibold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GPU'lu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sunucuda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yeniden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sıralayıcının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açılması,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akış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şemalarının</a:t>
            </a:r>
            <a:r>
              <a:rPr dirty="0" sz="1600" spc="-2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uzman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gözetiminde</a:t>
            </a:r>
            <a:r>
              <a:rPr dirty="0" sz="16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kurallara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çevrilmesi,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kaynak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güncellemelerinin</a:t>
            </a:r>
            <a:r>
              <a:rPr dirty="0" sz="1600" spc="-40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>
                <a:solidFill>
                  <a:srgbClr val="13202A"/>
                </a:solidFill>
                <a:latin typeface="Segoe UI"/>
                <a:cs typeface="Segoe UI"/>
              </a:rPr>
              <a:t>otomatik</a:t>
            </a:r>
            <a:r>
              <a:rPr dirty="0" sz="1600" spc="-35">
                <a:solidFill>
                  <a:srgbClr val="13202A"/>
                </a:solidFill>
                <a:latin typeface="Segoe UI"/>
                <a:cs typeface="Segoe UI"/>
              </a:rPr>
              <a:t> </a:t>
            </a:r>
            <a:r>
              <a:rPr dirty="0" sz="1600" spc="-10">
                <a:solidFill>
                  <a:srgbClr val="13202A"/>
                </a:solidFill>
                <a:latin typeface="Segoe UI"/>
                <a:cs typeface="Segoe UI"/>
              </a:rPr>
              <a:t>izlenmesi.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899" y="5676894"/>
            <a:ext cx="9248775" cy="9525"/>
          </a:xfrm>
          <a:custGeom>
            <a:avLst/>
            <a:gdLst/>
            <a:ahLst/>
            <a:cxnLst/>
            <a:rect l="l" t="t" r="r" b="b"/>
            <a:pathLst>
              <a:path w="9248775" h="9525">
                <a:moveTo>
                  <a:pt x="9248774" y="9524"/>
                </a:moveTo>
                <a:lnTo>
                  <a:pt x="0" y="9524"/>
                </a:lnTo>
                <a:lnTo>
                  <a:pt x="0" y="0"/>
                </a:lnTo>
                <a:lnTo>
                  <a:pt x="9248774" y="0"/>
                </a:lnTo>
                <a:lnTo>
                  <a:pt x="9248774" y="9524"/>
                </a:lnTo>
                <a:close/>
              </a:path>
            </a:pathLst>
          </a:custGeom>
          <a:solidFill>
            <a:srgbClr val="DDE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181" y="5702783"/>
            <a:ext cx="783590" cy="1778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900">
                <a:solidFill>
                  <a:srgbClr val="99A7B4"/>
                </a:solidFill>
                <a:latin typeface="Segoe UI"/>
                <a:cs typeface="Segoe UI"/>
              </a:rPr>
              <a:t>YOL</a:t>
            </a:r>
            <a:r>
              <a:rPr dirty="0" sz="900" spc="130">
                <a:solidFill>
                  <a:srgbClr val="99A7B4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99A7B4"/>
                </a:solidFill>
                <a:latin typeface="Segoe UI"/>
                <a:cs typeface="Segoe UI"/>
              </a:rPr>
              <a:t>HARİTASI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"/>
            <a:ext cx="10692130" cy="6007735"/>
          </a:xfrm>
          <a:custGeom>
            <a:avLst/>
            <a:gdLst/>
            <a:ahLst/>
            <a:cxnLst/>
            <a:rect l="l" t="t" r="r" b="b"/>
            <a:pathLst>
              <a:path w="10692130" h="6007735">
                <a:moveTo>
                  <a:pt x="10691960" y="6007607"/>
                </a:moveTo>
                <a:lnTo>
                  <a:pt x="0" y="6007607"/>
                </a:lnTo>
                <a:lnTo>
                  <a:pt x="0" y="0"/>
                </a:lnTo>
                <a:lnTo>
                  <a:pt x="10691960" y="0"/>
                </a:lnTo>
                <a:lnTo>
                  <a:pt x="10691960" y="6007607"/>
                </a:lnTo>
                <a:close/>
              </a:path>
            </a:pathLst>
          </a:custGeom>
          <a:solidFill>
            <a:srgbClr val="1F4E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7181" y="1482725"/>
            <a:ext cx="31902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Elde</a:t>
            </a:r>
            <a:r>
              <a:rPr dirty="0" sz="3600" spc="-55">
                <a:solidFill>
                  <a:srgbClr val="FFFFFF"/>
                </a:solidFill>
              </a:rPr>
              <a:t> </a:t>
            </a:r>
            <a:r>
              <a:rPr dirty="0" sz="3600">
                <a:solidFill>
                  <a:srgbClr val="FFFFFF"/>
                </a:solidFill>
              </a:rPr>
              <a:t>edilen</a:t>
            </a:r>
            <a:r>
              <a:rPr dirty="0" sz="3600" spc="-50">
                <a:solidFill>
                  <a:srgbClr val="FFFFFF"/>
                </a:solidFill>
              </a:rPr>
              <a:t> </a:t>
            </a:r>
            <a:r>
              <a:rPr dirty="0" sz="3600" spc="-25">
                <a:solidFill>
                  <a:srgbClr val="FFFFFF"/>
                </a:solidFill>
              </a:rPr>
              <a:t>şey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07181" y="2204720"/>
            <a:ext cx="6238240" cy="228663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 spc="-10">
                <a:solidFill>
                  <a:srgbClr val="CFDFEF"/>
                </a:solidFill>
                <a:latin typeface="Segoe UI"/>
                <a:cs typeface="Segoe UI"/>
              </a:rPr>
              <a:t>Yalnızca</a:t>
            </a:r>
            <a:r>
              <a:rPr dirty="0" sz="1800" spc="-4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CFDFEF"/>
                </a:solidFill>
                <a:latin typeface="Segoe UI"/>
                <a:cs typeface="Segoe UI"/>
              </a:rPr>
              <a:t>çalışan</a:t>
            </a:r>
            <a:r>
              <a:rPr dirty="0" sz="1800" spc="-4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CFDFEF"/>
                </a:solidFill>
                <a:latin typeface="Segoe UI"/>
                <a:cs typeface="Segoe UI"/>
              </a:rPr>
              <a:t>bir</a:t>
            </a:r>
            <a:r>
              <a:rPr dirty="0" sz="1800" spc="-4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CFDFEF"/>
                </a:solidFill>
                <a:latin typeface="Segoe UI"/>
                <a:cs typeface="Segoe UI"/>
              </a:rPr>
              <a:t>sistem</a:t>
            </a:r>
            <a:r>
              <a:rPr dirty="0" sz="1800" spc="-4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 spc="-10">
                <a:solidFill>
                  <a:srgbClr val="CFDFEF"/>
                </a:solidFill>
                <a:latin typeface="Segoe UI"/>
                <a:cs typeface="Segoe UI"/>
              </a:rPr>
              <a:t>değil,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 b="1">
                <a:solidFill>
                  <a:srgbClr val="CFDFEF"/>
                </a:solidFill>
                <a:latin typeface="Segoe UI"/>
                <a:cs typeface="Segoe UI"/>
              </a:rPr>
              <a:t>ne</a:t>
            </a:r>
            <a:r>
              <a:rPr dirty="0" sz="1800" spc="-5" b="1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 b="1">
                <a:solidFill>
                  <a:srgbClr val="CFDFEF"/>
                </a:solidFill>
                <a:latin typeface="Segoe UI"/>
                <a:cs typeface="Segoe UI"/>
              </a:rPr>
              <a:t>kadar</a:t>
            </a:r>
            <a:r>
              <a:rPr dirty="0" sz="1800" spc="-5" b="1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 b="1">
                <a:solidFill>
                  <a:srgbClr val="CFDFEF"/>
                </a:solidFill>
                <a:latin typeface="Segoe UI"/>
                <a:cs typeface="Segoe UI"/>
              </a:rPr>
              <a:t>çalıştığı</a:t>
            </a:r>
            <a:r>
              <a:rPr dirty="0" sz="1800" spc="-5" b="1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 b="1">
                <a:solidFill>
                  <a:srgbClr val="CFDFEF"/>
                </a:solidFill>
                <a:latin typeface="Segoe UI"/>
                <a:cs typeface="Segoe UI"/>
              </a:rPr>
              <a:t>ölçülmüş</a:t>
            </a:r>
            <a:r>
              <a:rPr dirty="0" sz="1800" spc="-10" b="1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CFDFEF"/>
                </a:solidFill>
                <a:latin typeface="Segoe UI"/>
                <a:cs typeface="Segoe UI"/>
              </a:rPr>
              <a:t>bir</a:t>
            </a:r>
            <a:r>
              <a:rPr dirty="0" sz="18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800" spc="-10">
                <a:solidFill>
                  <a:srgbClr val="CFDFEF"/>
                </a:solidFill>
                <a:latin typeface="Segoe UI"/>
                <a:cs typeface="Segoe UI"/>
              </a:rPr>
              <a:t>sistem.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800">
              <a:latin typeface="Segoe UI"/>
              <a:cs typeface="Segoe UI"/>
            </a:endParaRPr>
          </a:p>
          <a:p>
            <a:pPr marL="12700" marR="13335">
              <a:lnSpc>
                <a:spcPct val="129500"/>
              </a:lnSpc>
            </a:pP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Her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rakamın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hangi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kümede,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hangi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eşiklerle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ve</a:t>
            </a:r>
            <a:r>
              <a:rPr dirty="0" sz="1400" spc="-3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hangi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varsayımlarla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alındığı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CFDFEF"/>
                </a:solidFill>
                <a:latin typeface="Segoe UI"/>
                <a:cs typeface="Segoe UI"/>
              </a:rPr>
              <a:t>yazılı.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Geçersiz</a:t>
            </a:r>
            <a:r>
              <a:rPr dirty="0" sz="1400" spc="-4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sayılan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rakamlar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da</a:t>
            </a:r>
            <a:r>
              <a:rPr dirty="0" sz="1400" spc="-40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ayrıca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CFDFEF"/>
                </a:solidFill>
                <a:latin typeface="Segoe UI"/>
                <a:cs typeface="Segoe UI"/>
              </a:rPr>
              <a:t>listelenmiş</a:t>
            </a:r>
            <a:r>
              <a:rPr dirty="0" sz="1400" spc="-3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CFDFEF"/>
                </a:solidFill>
                <a:latin typeface="Segoe UI"/>
                <a:cs typeface="Segoe UI"/>
              </a:rPr>
              <a:t>durumda.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CFDFEF"/>
                </a:solidFill>
                <a:latin typeface="Segoe UI"/>
                <a:cs typeface="Segoe UI"/>
              </a:rPr>
              <a:t>Klinik</a:t>
            </a:r>
            <a:r>
              <a:rPr dirty="0" sz="12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FDFEF"/>
                </a:solidFill>
                <a:latin typeface="Segoe UI"/>
                <a:cs typeface="Segoe UI"/>
              </a:rPr>
              <a:t>bir</a:t>
            </a:r>
            <a:r>
              <a:rPr dirty="0" sz="12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200" spc="-20">
                <a:solidFill>
                  <a:srgbClr val="CFDFEF"/>
                </a:solidFill>
                <a:latin typeface="Segoe UI"/>
                <a:cs typeface="Segoe UI"/>
              </a:rPr>
              <a:t>karar-</a:t>
            </a:r>
            <a:r>
              <a:rPr dirty="0" sz="1200">
                <a:solidFill>
                  <a:srgbClr val="CFDFEF"/>
                </a:solidFill>
                <a:latin typeface="Segoe UI"/>
                <a:cs typeface="Segoe UI"/>
              </a:rPr>
              <a:t>destek sisteminde</a:t>
            </a:r>
            <a:r>
              <a:rPr dirty="0" sz="12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FDFEF"/>
                </a:solidFill>
                <a:latin typeface="Segoe UI"/>
                <a:cs typeface="Segoe UI"/>
              </a:rPr>
              <a:t>bu izlenebilirlik,</a:t>
            </a:r>
            <a:r>
              <a:rPr dirty="0" sz="12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FDFEF"/>
                </a:solidFill>
                <a:latin typeface="Segoe UI"/>
                <a:cs typeface="Segoe UI"/>
              </a:rPr>
              <a:t>doğruluk iddiasının</a:t>
            </a:r>
            <a:r>
              <a:rPr dirty="0" sz="12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FDFEF"/>
                </a:solidFill>
                <a:latin typeface="Segoe UI"/>
                <a:cs typeface="Segoe UI"/>
              </a:rPr>
              <a:t>kendisinden önce</a:t>
            </a:r>
            <a:r>
              <a:rPr dirty="0" sz="1200" spc="-5">
                <a:solidFill>
                  <a:srgbClr val="CFDFEF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CFDFEF"/>
                </a:solidFill>
                <a:latin typeface="Segoe UI"/>
                <a:cs typeface="Segoe UI"/>
              </a:rPr>
              <a:t>gelir.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 Miyelom Karar-Destek Arşivi — Sunum</dc:title>
  <dcterms:created xsi:type="dcterms:W3CDTF">2026-08-13T13:33:37Z</dcterms:created>
  <dcterms:modified xsi:type="dcterms:W3CDTF">2026-08-13T13:33:37Z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2026-08-11T00:00:00Z</vt:filetime>
  </property>
  <property fmtid="{D5CDD505-2E9C-101B-9397-08002B2CF9AE}" pid="4" name="Creator">
    <vt:lpwstr>Mozilla/5.0 (Windows NT 10.0; Win64; x64) AppleWebKit/537.36 (KHTML, like Gecko) HeadlessChrome/151.0.0.0 Safari/537.36</vt:lpwstr>
  </property>
  <property fmtid="{D5CDD505-2E9C-101B-9397-08002B2CF9AE}" pid="5" name="LastSaved">
    <vt:filetime>2026-08-13T00:00:00Z</vt:filetime>
  </property>
  <property fmtid="{D5CDD505-2E9C-101B-9397-08002B2CF9AE}" pid="6" name="Producer">
    <vt:lpwstr>Skia/PDF m151</vt:lpwstr>
  </property>
</Properties>
</file>